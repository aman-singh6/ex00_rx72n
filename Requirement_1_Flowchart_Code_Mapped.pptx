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C5AD-CD5B-426B-88F2-378CB95E94FB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1DC0-589E-480B-AF4F-97DE6632BA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3550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C5AD-CD5B-426B-88F2-378CB95E94FB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1DC0-589E-480B-AF4F-97DE6632BA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575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C5AD-CD5B-426B-88F2-378CB95E94FB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1DC0-589E-480B-AF4F-97DE6632BA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1418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C5AD-CD5B-426B-88F2-378CB95E94FB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1DC0-589E-480B-AF4F-97DE6632BA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1181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C5AD-CD5B-426B-88F2-378CB95E94FB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1DC0-589E-480B-AF4F-97DE6632BA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2480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C5AD-CD5B-426B-88F2-378CB95E94FB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1DC0-589E-480B-AF4F-97DE6632BA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976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C5AD-CD5B-426B-88F2-378CB95E94FB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1DC0-589E-480B-AF4F-97DE6632BA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5989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C5AD-CD5B-426B-88F2-378CB95E94FB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1DC0-589E-480B-AF4F-97DE6632BA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503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C5AD-CD5B-426B-88F2-378CB95E94FB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1DC0-589E-480B-AF4F-97DE6632BA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7107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C5AD-CD5B-426B-88F2-378CB95E94FB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1DC0-589E-480B-AF4F-97DE6632BA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6553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0C5AD-CD5B-426B-88F2-378CB95E94FB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1DC0-589E-480B-AF4F-97DE6632BA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0389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0C5AD-CD5B-426B-88F2-378CB95E94FB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B1DC0-589E-480B-AF4F-97DE6632BA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506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32E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/>
          <p:cNvSpPr/>
          <p:nvPr/>
        </p:nvSpPr>
        <p:spPr>
          <a:xfrm>
            <a:off x="0" y="965200"/>
            <a:ext cx="12192000" cy="50800"/>
          </a:xfrm>
          <a:prstGeom prst="rect">
            <a:avLst/>
          </a:prstGeom>
          <a:solidFill>
            <a:srgbClr val="D29B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82600" y="70451"/>
            <a:ext cx="9144000" cy="4154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kumimoji="1" lang="en-US" altLang="ja-JP" sz="2700" b="1" smtClean="0">
                <a:solidFill>
                  <a:srgbClr val="FFFFFF"/>
                </a:solidFill>
                <a:latin typeface="Aptos"/>
              </a:rPr>
              <a:t>Requirement 1 | RC Car Control</a:t>
            </a:r>
            <a:endParaRPr kumimoji="1" lang="ja-JP" altLang="en-US"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08000" y="653077"/>
            <a:ext cx="9906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kumimoji="1" lang="en-US" altLang="ja-JP" sz="1400" smtClean="0">
                <a:solidFill>
                  <a:srgbClr val="DCE7E4"/>
                </a:solidFill>
                <a:latin typeface="Aptos"/>
              </a:rPr>
              <a:t>Button-driven LED2 status and CAN-based distance detection</a:t>
            </a:r>
            <a:endParaRPr kumimoji="1" lang="ja-JP" altLang="en-US" sz="1400">
              <a:solidFill>
                <a:srgbClr val="DCE7E4"/>
              </a:solidFill>
              <a:latin typeface="Aptos"/>
            </a:endParaRPr>
          </a:p>
        </p:txBody>
      </p:sp>
      <p:sp>
        <p:nvSpPr>
          <p:cNvPr id="6" name="楕円 5"/>
          <p:cNvSpPr/>
          <p:nvPr/>
        </p:nvSpPr>
        <p:spPr>
          <a:xfrm>
            <a:off x="533400" y="1257300"/>
            <a:ext cx="1422400" cy="431800"/>
          </a:xfrm>
          <a:prstGeom prst="ellipse">
            <a:avLst/>
          </a:prstGeom>
          <a:solidFill>
            <a:srgbClr val="132E32"/>
          </a:solidFill>
          <a:ln w="17780">
            <a:solidFill>
              <a:srgbClr val="132E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kumimoji="1" lang="en-US" altLang="ja-JP" sz="1200" b="1" smtClean="0">
                <a:solidFill>
                  <a:srgbClr val="FFFFFF"/>
                </a:solidFill>
                <a:latin typeface="Aptos"/>
              </a:rPr>
              <a:t>START</a:t>
            </a:r>
            <a:endParaRPr kumimoji="1" lang="ja-JP" altLang="en-US"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角丸四角形 6"/>
          <p:cNvSpPr/>
          <p:nvPr/>
        </p:nvSpPr>
        <p:spPr>
          <a:xfrm>
            <a:off x="2857500" y="1193800"/>
            <a:ext cx="2730500" cy="558800"/>
          </a:xfrm>
          <a:prstGeom prst="roundRect">
            <a:avLst/>
          </a:prstGeom>
          <a:solidFill>
            <a:srgbClr val="E5F2EF"/>
          </a:solidFill>
          <a:ln w="17780">
            <a:solidFill>
              <a:srgbClr val="287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kumimoji="1" lang="en-US" altLang="ja-JP" sz="1500" b="1" smtClean="0">
                <a:solidFill>
                  <a:srgbClr val="1D3035"/>
                </a:solidFill>
                <a:latin typeface="Aptos"/>
              </a:rPr>
              <a:t>Initialize CAN1, GPIO, CMT0</a:t>
            </a:r>
            <a:endParaRPr kumimoji="1" lang="ja-JP" altLang="en-US" sz="1500" b="1">
              <a:solidFill>
                <a:srgbClr val="1D3035"/>
              </a:solidFill>
              <a:latin typeface="Aptos"/>
            </a:endParaRPr>
          </a:p>
        </p:txBody>
      </p:sp>
      <p:sp>
        <p:nvSpPr>
          <p:cNvPr id="8" name="角丸四角形 7"/>
          <p:cNvSpPr/>
          <p:nvPr/>
        </p:nvSpPr>
        <p:spPr>
          <a:xfrm>
            <a:off x="6413500" y="1193800"/>
            <a:ext cx="4826000" cy="558800"/>
          </a:xfrm>
          <a:prstGeom prst="roundRect">
            <a:avLst/>
          </a:prstGeom>
          <a:solidFill>
            <a:srgbClr val="E5F2EF"/>
          </a:solidFill>
          <a:ln w="17780">
            <a:solidFill>
              <a:srgbClr val="287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kumimoji="1" lang="en-US" altLang="ja-JP" sz="1400" b="1" smtClean="0">
                <a:solidFill>
                  <a:srgbClr val="1D3035"/>
                </a:solidFill>
                <a:latin typeface="Aptos"/>
              </a:rPr>
              <a:t>Initial: LED1 OFF  |  LED2 OFF  |  CarStatus = 0</a:t>
            </a:r>
            <a:endParaRPr kumimoji="1" lang="ja-JP" altLang="en-US" sz="1400" b="1">
              <a:solidFill>
                <a:srgbClr val="1D3035"/>
              </a:solidFill>
              <a:latin typeface="Aptos"/>
            </a:endParaRPr>
          </a:p>
        </p:txBody>
      </p:sp>
      <p:cxnSp>
        <p:nvCxnSpPr>
          <p:cNvPr id="9" name="直線コネクタ 8"/>
          <p:cNvCxnSpPr/>
          <p:nvPr/>
        </p:nvCxnSpPr>
        <p:spPr>
          <a:xfrm>
            <a:off x="1955800" y="1473200"/>
            <a:ext cx="774700" cy="0"/>
          </a:xfrm>
          <a:prstGeom prst="line">
            <a:avLst/>
          </a:prstGeom>
          <a:ln w="19050">
            <a:solidFill>
              <a:srgbClr val="52626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/>
          <p:cNvCxnSpPr/>
          <p:nvPr/>
        </p:nvCxnSpPr>
        <p:spPr>
          <a:xfrm>
            <a:off x="5600700" y="1473200"/>
            <a:ext cx="685800" cy="0"/>
          </a:xfrm>
          <a:prstGeom prst="line">
            <a:avLst/>
          </a:prstGeom>
          <a:ln w="19050">
            <a:solidFill>
              <a:srgbClr val="52626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角丸四角形 10"/>
          <p:cNvSpPr/>
          <p:nvPr/>
        </p:nvSpPr>
        <p:spPr>
          <a:xfrm>
            <a:off x="381000" y="1955800"/>
            <a:ext cx="5588000" cy="34925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1DD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38100" rIns="88900" bIns="38100" rtlCol="0" anchor="ctr"/>
          <a:lstStyle/>
          <a:p>
            <a:pPr algn="ctr"/>
            <a:endParaRPr kumimoji="1" lang="ja-JP" altLang="en-US" sz="1200">
              <a:solidFill>
                <a:srgbClr val="1D3035"/>
              </a:solidFill>
              <a:latin typeface="Aptos"/>
            </a:endParaRPr>
          </a:p>
        </p:txBody>
      </p:sp>
      <p:sp>
        <p:nvSpPr>
          <p:cNvPr id="12" name="角丸四角形 11"/>
          <p:cNvSpPr/>
          <p:nvPr/>
        </p:nvSpPr>
        <p:spPr>
          <a:xfrm>
            <a:off x="6223000" y="1955800"/>
            <a:ext cx="5588000" cy="34925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1DD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38100" rIns="88900" bIns="38100" rtlCol="0" anchor="ctr"/>
          <a:lstStyle/>
          <a:p>
            <a:pPr algn="ctr"/>
            <a:endParaRPr kumimoji="1" lang="ja-JP" altLang="en-US" sz="1200">
              <a:solidFill>
                <a:srgbClr val="1D3035"/>
              </a:solidFill>
              <a:latin typeface="Aptos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622300" y="2105883"/>
            <a:ext cx="5105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kumimoji="1" lang="en-US" altLang="ja-JP" sz="1500" b="1" smtClean="0">
                <a:solidFill>
                  <a:srgbClr val="19766D"/>
                </a:solidFill>
                <a:latin typeface="Aptos"/>
              </a:rPr>
              <a:t>PUSH BUTTON  /  LED2  /  CARSTATUS</a:t>
            </a:r>
            <a:endParaRPr kumimoji="1" lang="ja-JP" altLang="en-US" sz="1500" b="1">
              <a:solidFill>
                <a:srgbClr val="19766D"/>
              </a:solidFill>
              <a:latin typeface="Aptos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451600" y="2105883"/>
            <a:ext cx="51181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kumimoji="1" lang="en-US" altLang="ja-JP" sz="1500" b="1" smtClean="0">
                <a:solidFill>
                  <a:srgbClr val="19766D"/>
                </a:solidFill>
                <a:latin typeface="Aptos"/>
              </a:rPr>
              <a:t>TOGGLE  /  LED1  /  DISTANCE SENSOR</a:t>
            </a:r>
            <a:endParaRPr kumimoji="1" lang="ja-JP" altLang="en-US" sz="1500" b="1">
              <a:solidFill>
                <a:srgbClr val="19766D"/>
              </a:solidFill>
              <a:latin typeface="Aptos"/>
            </a:endParaRPr>
          </a:p>
        </p:txBody>
      </p:sp>
      <p:cxnSp>
        <p:nvCxnSpPr>
          <p:cNvPr id="15" name="直線コネクタ 14"/>
          <p:cNvCxnSpPr/>
          <p:nvPr/>
        </p:nvCxnSpPr>
        <p:spPr>
          <a:xfrm>
            <a:off x="2857500" y="3022600"/>
            <a:ext cx="520700" cy="0"/>
          </a:xfrm>
          <a:prstGeom prst="line">
            <a:avLst/>
          </a:prstGeom>
          <a:ln w="19050">
            <a:solidFill>
              <a:srgbClr val="52626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/>
          <p:cNvCxnSpPr/>
          <p:nvPr/>
        </p:nvCxnSpPr>
        <p:spPr>
          <a:xfrm flipH="1">
            <a:off x="3111500" y="3428543"/>
            <a:ext cx="1038469" cy="457"/>
          </a:xfrm>
          <a:prstGeom prst="line">
            <a:avLst/>
          </a:prstGeom>
          <a:ln w="19050">
            <a:solidFill>
              <a:srgbClr val="526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/>
          <p:cNvCxnSpPr/>
          <p:nvPr/>
        </p:nvCxnSpPr>
        <p:spPr>
          <a:xfrm>
            <a:off x="3111500" y="3428543"/>
            <a:ext cx="0" cy="711657"/>
          </a:xfrm>
          <a:prstGeom prst="line">
            <a:avLst/>
          </a:prstGeom>
          <a:ln w="19050">
            <a:solidFill>
              <a:srgbClr val="526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/>
          <p:cNvCxnSpPr/>
          <p:nvPr/>
        </p:nvCxnSpPr>
        <p:spPr>
          <a:xfrm flipH="1">
            <a:off x="2819400" y="4140200"/>
            <a:ext cx="292100" cy="0"/>
          </a:xfrm>
          <a:prstGeom prst="line">
            <a:avLst/>
          </a:prstGeom>
          <a:ln w="19050">
            <a:solidFill>
              <a:srgbClr val="52626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/>
          <p:cNvCxnSpPr/>
          <p:nvPr/>
        </p:nvCxnSpPr>
        <p:spPr>
          <a:xfrm>
            <a:off x="4292600" y="3467100"/>
            <a:ext cx="0" cy="406400"/>
          </a:xfrm>
          <a:prstGeom prst="line">
            <a:avLst/>
          </a:prstGeom>
          <a:ln w="19050">
            <a:solidFill>
              <a:srgbClr val="52626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/>
          <p:cNvSpPr txBox="1"/>
          <p:nvPr/>
        </p:nvSpPr>
        <p:spPr>
          <a:xfrm>
            <a:off x="2933700" y="3274655"/>
            <a:ext cx="609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kumimoji="1" lang="en-US" altLang="ja-JP" sz="1000" b="1" smtClean="0">
                <a:solidFill>
                  <a:srgbClr val="344C53"/>
                </a:solidFill>
                <a:latin typeface="Aptos"/>
              </a:rPr>
              <a:t>YES</a:t>
            </a:r>
            <a:endParaRPr kumimoji="1" lang="ja-JP" altLang="en-US" sz="1000" b="1">
              <a:solidFill>
                <a:srgbClr val="344C53"/>
              </a:solidFill>
              <a:latin typeface="Aptos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4368800" y="3604855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kumimoji="1" lang="en-US" altLang="ja-JP" sz="1000" b="1" smtClean="0">
                <a:solidFill>
                  <a:srgbClr val="344C53"/>
                </a:solidFill>
                <a:latin typeface="Aptos"/>
              </a:rPr>
              <a:t>NO</a:t>
            </a:r>
            <a:endParaRPr kumimoji="1" lang="ja-JP" altLang="en-US" sz="1000" b="1">
              <a:solidFill>
                <a:srgbClr val="344C53"/>
              </a:solidFill>
              <a:latin typeface="Aptos"/>
            </a:endParaRPr>
          </a:p>
        </p:txBody>
      </p:sp>
      <p:sp>
        <p:nvSpPr>
          <p:cNvPr id="22" name="角丸四角形 21"/>
          <p:cNvSpPr/>
          <p:nvPr/>
        </p:nvSpPr>
        <p:spPr>
          <a:xfrm>
            <a:off x="647700" y="2679700"/>
            <a:ext cx="2209800" cy="685800"/>
          </a:xfrm>
          <a:prstGeom prst="roundRect">
            <a:avLst/>
          </a:prstGeom>
          <a:solidFill>
            <a:srgbClr val="E5F2EF"/>
          </a:solidFill>
          <a:ln w="17780">
            <a:solidFill>
              <a:srgbClr val="287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kumimoji="1" lang="en-US" altLang="ja-JP" sz="1400" smtClean="0">
                <a:solidFill>
                  <a:srgbClr val="1D3035"/>
                </a:solidFill>
                <a:latin typeface="Aptos"/>
              </a:rPr>
              <a:t>Sample and debounce PK0</a:t>
            </a:r>
          </a:p>
          <a:p>
            <a:pPr algn="ctr"/>
            <a:r>
              <a:rPr kumimoji="1" lang="en-US" altLang="ja-JP" sz="1400" smtClean="0">
                <a:solidFill>
                  <a:srgbClr val="1D3035"/>
                </a:solidFill>
                <a:latin typeface="Aptos"/>
              </a:rPr>
              <a:t>20 stable callbacks</a:t>
            </a:r>
            <a:endParaRPr kumimoji="1" lang="ja-JP" altLang="en-US" sz="1400">
              <a:solidFill>
                <a:srgbClr val="1D3035"/>
              </a:solidFill>
              <a:latin typeface="Aptos"/>
            </a:endParaRPr>
          </a:p>
        </p:txBody>
      </p:sp>
      <p:sp>
        <p:nvSpPr>
          <p:cNvPr id="23" name="ひし形 22"/>
          <p:cNvSpPr/>
          <p:nvPr/>
        </p:nvSpPr>
        <p:spPr>
          <a:xfrm>
            <a:off x="3378200" y="2552700"/>
            <a:ext cx="1828800" cy="939800"/>
          </a:xfrm>
          <a:prstGeom prst="diamond">
            <a:avLst/>
          </a:prstGeom>
          <a:solidFill>
            <a:srgbClr val="FFF4D8"/>
          </a:solidFill>
          <a:ln w="17780">
            <a:solidFill>
              <a:srgbClr val="C183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kumimoji="1" lang="en-US" altLang="ja-JP" sz="1400" b="1" smtClean="0">
                <a:solidFill>
                  <a:srgbClr val="1D3035"/>
                </a:solidFill>
                <a:latin typeface="Aptos"/>
              </a:rPr>
              <a:t>Hold &gt;= 10 s?</a:t>
            </a:r>
            <a:endParaRPr kumimoji="1" lang="ja-JP" altLang="en-US" sz="1400" b="1">
              <a:solidFill>
                <a:srgbClr val="1D3035"/>
              </a:solidFill>
              <a:latin typeface="Aptos"/>
            </a:endParaRPr>
          </a:p>
        </p:txBody>
      </p:sp>
      <p:sp>
        <p:nvSpPr>
          <p:cNvPr id="24" name="角丸四角形 23"/>
          <p:cNvSpPr/>
          <p:nvPr/>
        </p:nvSpPr>
        <p:spPr>
          <a:xfrm>
            <a:off x="647700" y="3810000"/>
            <a:ext cx="2171700" cy="889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76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kumimoji="1" lang="en-US" altLang="ja-JP" sz="1200" smtClean="0">
                <a:solidFill>
                  <a:srgbClr val="1D3035"/>
                </a:solidFill>
                <a:latin typeface="Aptos"/>
              </a:rPr>
              <a:t>Button fault active</a:t>
            </a:r>
          </a:p>
          <a:p>
            <a:pPr algn="ctr"/>
            <a:r>
              <a:rPr kumimoji="1" lang="en-US" altLang="ja-JP" sz="1200" smtClean="0">
                <a:solidFill>
                  <a:srgbClr val="1D3035"/>
                </a:solidFill>
                <a:latin typeface="Aptos"/>
              </a:rPr>
              <a:t>LED2 blinks continuously</a:t>
            </a:r>
          </a:p>
          <a:p>
            <a:pPr algn="ctr"/>
            <a:r>
              <a:rPr kumimoji="1" lang="en-US" altLang="ja-JP" sz="1200" smtClean="0">
                <a:solidFill>
                  <a:srgbClr val="1D3035"/>
                </a:solidFill>
                <a:latin typeface="Aptos"/>
              </a:rPr>
              <a:t>CarStatus = 2</a:t>
            </a:r>
            <a:endParaRPr kumimoji="1" lang="ja-JP" altLang="en-US" sz="1200">
              <a:solidFill>
                <a:srgbClr val="1D3035"/>
              </a:solidFill>
              <a:latin typeface="Aptos"/>
            </a:endParaRPr>
          </a:p>
        </p:txBody>
      </p:sp>
      <p:sp>
        <p:nvSpPr>
          <p:cNvPr id="25" name="角丸四角形 24"/>
          <p:cNvSpPr/>
          <p:nvPr/>
        </p:nvSpPr>
        <p:spPr>
          <a:xfrm>
            <a:off x="3187700" y="3873500"/>
            <a:ext cx="2336800" cy="1092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76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kumimoji="1" lang="en-US" altLang="ja-JP" sz="1200" smtClean="0">
                <a:solidFill>
                  <a:srgbClr val="1D3035"/>
                </a:solidFill>
                <a:latin typeface="Aptos"/>
              </a:rPr>
              <a:t>After short release, wait 3 s</a:t>
            </a:r>
          </a:p>
          <a:p>
            <a:pPr algn="ctr"/>
            <a:r>
              <a:rPr kumimoji="1" lang="en-US" altLang="ja-JP" sz="1200" smtClean="0">
                <a:solidFill>
                  <a:srgbClr val="1D3035"/>
                </a:solidFill>
                <a:latin typeface="Aptos"/>
              </a:rPr>
              <a:t>and toggle LED2</a:t>
            </a:r>
          </a:p>
          <a:p>
            <a:pPr algn="ctr"/>
            <a:r>
              <a:rPr kumimoji="1" lang="en-US" altLang="ja-JP" sz="1200" smtClean="0">
                <a:solidFill>
                  <a:srgbClr val="1D3035"/>
                </a:solidFill>
                <a:latin typeface="Aptos"/>
              </a:rPr>
              <a:t>OFF -&gt; CarStatus 0</a:t>
            </a:r>
          </a:p>
          <a:p>
            <a:pPr algn="ctr"/>
            <a:r>
              <a:rPr kumimoji="1" lang="en-US" altLang="ja-JP" sz="1200" smtClean="0">
                <a:solidFill>
                  <a:srgbClr val="1D3035"/>
                </a:solidFill>
                <a:latin typeface="Aptos"/>
              </a:rPr>
              <a:t>ON -&gt; CarStatus 1</a:t>
            </a:r>
            <a:endParaRPr kumimoji="1" lang="ja-JP" altLang="en-US" sz="1200">
              <a:solidFill>
                <a:srgbClr val="1D3035"/>
              </a:solidFill>
              <a:latin typeface="Aptos"/>
            </a:endParaRPr>
          </a:p>
        </p:txBody>
      </p:sp>
      <p:sp>
        <p:nvSpPr>
          <p:cNvPr id="26" name="角丸四角形 25"/>
          <p:cNvSpPr/>
          <p:nvPr/>
        </p:nvSpPr>
        <p:spPr>
          <a:xfrm>
            <a:off x="6477000" y="2590800"/>
            <a:ext cx="5080000" cy="660400"/>
          </a:xfrm>
          <a:prstGeom prst="roundRect">
            <a:avLst/>
          </a:prstGeom>
          <a:solidFill>
            <a:srgbClr val="E5F2EF"/>
          </a:solidFill>
          <a:ln w="17780">
            <a:solidFill>
              <a:srgbClr val="287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kumimoji="1" lang="en-US" altLang="ja-JP" sz="1200" smtClean="0">
                <a:solidFill>
                  <a:srgbClr val="1D3035"/>
                </a:solidFill>
                <a:latin typeface="Aptos"/>
              </a:rPr>
              <a:t>Read CAN ID 0x201: MotorDuty + DistanceSensor</a:t>
            </a:r>
          </a:p>
          <a:p>
            <a:pPr algn="ctr"/>
            <a:r>
              <a:rPr kumimoji="1" lang="en-US" altLang="ja-JP" sz="1200" smtClean="0">
                <a:solidFill>
                  <a:srgbClr val="1D3035"/>
                </a:solidFill>
                <a:latin typeface="Aptos"/>
              </a:rPr>
              <a:t>Normal detection needs LED2 ON, MotorDuty &gt; 0, toggle ON, no fault</a:t>
            </a:r>
            <a:endParaRPr kumimoji="1" lang="ja-JP" altLang="en-US" sz="1200">
              <a:solidFill>
                <a:srgbClr val="1D3035"/>
              </a:solidFill>
              <a:latin typeface="Aptos"/>
            </a:endParaRPr>
          </a:p>
        </p:txBody>
      </p:sp>
      <p:sp>
        <p:nvSpPr>
          <p:cNvPr id="27" name="ひし形 26"/>
          <p:cNvSpPr/>
          <p:nvPr/>
        </p:nvSpPr>
        <p:spPr>
          <a:xfrm>
            <a:off x="8001000" y="3378200"/>
            <a:ext cx="1879600" cy="889000"/>
          </a:xfrm>
          <a:prstGeom prst="diamond">
            <a:avLst/>
          </a:prstGeom>
          <a:solidFill>
            <a:srgbClr val="FFF4D8"/>
          </a:solidFill>
          <a:ln w="17780">
            <a:solidFill>
              <a:srgbClr val="C183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kumimoji="1" lang="en-US" altLang="ja-JP" sz="1400" b="1" smtClean="0">
                <a:solidFill>
                  <a:srgbClr val="1D3035"/>
                </a:solidFill>
                <a:latin typeface="Aptos"/>
              </a:rPr>
              <a:t>Detection enabled?</a:t>
            </a:r>
            <a:endParaRPr kumimoji="1" lang="ja-JP" altLang="en-US" sz="1400" b="1">
              <a:solidFill>
                <a:srgbClr val="1D3035"/>
              </a:solidFill>
              <a:latin typeface="Aptos"/>
            </a:endParaRPr>
          </a:p>
        </p:txBody>
      </p:sp>
      <p:sp>
        <p:nvSpPr>
          <p:cNvPr id="28" name="角丸四角形 27"/>
          <p:cNvSpPr/>
          <p:nvPr/>
        </p:nvSpPr>
        <p:spPr>
          <a:xfrm>
            <a:off x="10160000" y="3416300"/>
            <a:ext cx="1409700" cy="838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76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kumimoji="1" lang="en-US" altLang="ja-JP" sz="1100" smtClean="0">
                <a:solidFill>
                  <a:srgbClr val="1D3035"/>
                </a:solidFill>
                <a:latin typeface="Aptos"/>
              </a:rPr>
              <a:t>Disabled</a:t>
            </a:r>
          </a:p>
          <a:p>
            <a:pPr algn="ctr"/>
            <a:r>
              <a:rPr kumimoji="1" lang="en-US" altLang="ja-JP" sz="1100" smtClean="0">
                <a:solidFill>
                  <a:srgbClr val="1D3035"/>
                </a:solidFill>
                <a:latin typeface="Aptos"/>
              </a:rPr>
              <a:t>LED1 OFF</a:t>
            </a:r>
          </a:p>
          <a:p>
            <a:pPr algn="ctr"/>
            <a:r>
              <a:rPr kumimoji="1" lang="en-US" altLang="ja-JP" sz="1100" smtClean="0">
                <a:solidFill>
                  <a:srgbClr val="1D3035"/>
                </a:solidFill>
                <a:latin typeface="Aptos"/>
              </a:rPr>
              <a:t>OD = 0</a:t>
            </a:r>
            <a:endParaRPr kumimoji="1" lang="ja-JP" altLang="en-US" sz="1100">
              <a:solidFill>
                <a:srgbClr val="1D3035"/>
              </a:solidFill>
              <a:latin typeface="Aptos"/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9893300" y="3261955"/>
            <a:ext cx="4699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kumimoji="1" lang="en-US" altLang="ja-JP" sz="1000" b="1" smtClean="0">
                <a:solidFill>
                  <a:srgbClr val="344C53"/>
                </a:solidFill>
                <a:latin typeface="Aptos"/>
              </a:rPr>
              <a:t>NO</a:t>
            </a:r>
            <a:endParaRPr kumimoji="1" lang="ja-JP" altLang="en-US" sz="1000" b="1">
              <a:solidFill>
                <a:srgbClr val="344C53"/>
              </a:solidFill>
              <a:latin typeface="Aptos"/>
            </a:endParaRPr>
          </a:p>
        </p:txBody>
      </p:sp>
      <p:cxnSp>
        <p:nvCxnSpPr>
          <p:cNvPr id="30" name="直線コネクタ 29"/>
          <p:cNvCxnSpPr/>
          <p:nvPr/>
        </p:nvCxnSpPr>
        <p:spPr>
          <a:xfrm>
            <a:off x="9880600" y="3822700"/>
            <a:ext cx="254000" cy="0"/>
          </a:xfrm>
          <a:prstGeom prst="line">
            <a:avLst/>
          </a:prstGeom>
          <a:ln w="19050">
            <a:solidFill>
              <a:srgbClr val="52626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/>
          <p:nvPr/>
        </p:nvCxnSpPr>
        <p:spPr>
          <a:xfrm>
            <a:off x="8940800" y="4267200"/>
            <a:ext cx="0" cy="152400"/>
          </a:xfrm>
          <a:prstGeom prst="line">
            <a:avLst/>
          </a:prstGeom>
          <a:ln w="19050">
            <a:solidFill>
              <a:srgbClr val="526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/>
          <p:cNvCxnSpPr/>
          <p:nvPr/>
        </p:nvCxnSpPr>
        <p:spPr>
          <a:xfrm>
            <a:off x="7023100" y="4419600"/>
            <a:ext cx="3835400" cy="0"/>
          </a:xfrm>
          <a:prstGeom prst="line">
            <a:avLst/>
          </a:prstGeom>
          <a:ln w="19050">
            <a:solidFill>
              <a:srgbClr val="526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/>
          <p:cNvSpPr txBox="1"/>
          <p:nvPr/>
        </p:nvSpPr>
        <p:spPr>
          <a:xfrm>
            <a:off x="9042400" y="4290655"/>
            <a:ext cx="4826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kumimoji="1" lang="en-US" altLang="ja-JP" sz="1000" b="1" smtClean="0">
                <a:solidFill>
                  <a:srgbClr val="344C53"/>
                </a:solidFill>
                <a:latin typeface="Aptos"/>
              </a:rPr>
              <a:t>YES</a:t>
            </a:r>
            <a:endParaRPr kumimoji="1" lang="ja-JP" altLang="en-US" sz="1000" b="1">
              <a:solidFill>
                <a:srgbClr val="344C53"/>
              </a:solidFill>
              <a:latin typeface="Aptos"/>
            </a:endParaRPr>
          </a:p>
        </p:txBody>
      </p:sp>
      <p:cxnSp>
        <p:nvCxnSpPr>
          <p:cNvPr id="34" name="直線コネクタ 33"/>
          <p:cNvCxnSpPr/>
          <p:nvPr/>
        </p:nvCxnSpPr>
        <p:spPr>
          <a:xfrm>
            <a:off x="7023100" y="4419600"/>
            <a:ext cx="0" cy="139700"/>
          </a:xfrm>
          <a:prstGeom prst="line">
            <a:avLst/>
          </a:prstGeom>
          <a:ln w="19050">
            <a:solidFill>
              <a:srgbClr val="52626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/>
          <p:cNvCxnSpPr/>
          <p:nvPr/>
        </p:nvCxnSpPr>
        <p:spPr>
          <a:xfrm>
            <a:off x="8305800" y="4419600"/>
            <a:ext cx="0" cy="139700"/>
          </a:xfrm>
          <a:prstGeom prst="line">
            <a:avLst/>
          </a:prstGeom>
          <a:ln w="19050">
            <a:solidFill>
              <a:srgbClr val="52626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>
            <a:off x="9588500" y="4419600"/>
            <a:ext cx="0" cy="139700"/>
          </a:xfrm>
          <a:prstGeom prst="line">
            <a:avLst/>
          </a:prstGeom>
          <a:ln w="19050">
            <a:solidFill>
              <a:srgbClr val="52626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/>
          <p:cNvCxnSpPr/>
          <p:nvPr/>
        </p:nvCxnSpPr>
        <p:spPr>
          <a:xfrm>
            <a:off x="10871200" y="4419600"/>
            <a:ext cx="0" cy="139700"/>
          </a:xfrm>
          <a:prstGeom prst="line">
            <a:avLst/>
          </a:prstGeom>
          <a:ln w="19050">
            <a:solidFill>
              <a:srgbClr val="52626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角丸四角形 37"/>
          <p:cNvSpPr/>
          <p:nvPr/>
        </p:nvSpPr>
        <p:spPr>
          <a:xfrm>
            <a:off x="6438900" y="4572000"/>
            <a:ext cx="1168400" cy="736600"/>
          </a:xfrm>
          <a:prstGeom prst="roundRect">
            <a:avLst/>
          </a:prstGeom>
          <a:solidFill>
            <a:srgbClr val="DCEDE8"/>
          </a:solidFill>
          <a:ln w="17780">
            <a:solidFill>
              <a:srgbClr val="287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kumimoji="1" lang="en-US" altLang="ja-JP" sz="1000" b="1" smtClean="0">
                <a:solidFill>
                  <a:srgbClr val="1D3035"/>
                </a:solidFill>
                <a:latin typeface="Aptos"/>
              </a:rPr>
              <a:t>1-10</a:t>
            </a:r>
          </a:p>
          <a:p>
            <a:pPr algn="ctr"/>
            <a:r>
              <a:rPr kumimoji="1" lang="en-US" altLang="ja-JP" sz="1000" b="1" smtClean="0">
                <a:solidFill>
                  <a:srgbClr val="1D3035"/>
                </a:solidFill>
                <a:latin typeface="Aptos"/>
              </a:rPr>
              <a:t>OD = 3 | Car = 3</a:t>
            </a:r>
          </a:p>
          <a:p>
            <a:pPr algn="ctr"/>
            <a:r>
              <a:rPr kumimoji="1" lang="en-US" altLang="ja-JP" sz="1000" b="1" smtClean="0">
                <a:solidFill>
                  <a:srgbClr val="1D3035"/>
                </a:solidFill>
                <a:latin typeface="Aptos"/>
              </a:rPr>
              <a:t>LED1 ON</a:t>
            </a:r>
            <a:endParaRPr kumimoji="1" lang="ja-JP" altLang="en-US" sz="1000" b="1">
              <a:solidFill>
                <a:srgbClr val="1D3035"/>
              </a:solidFill>
              <a:latin typeface="Aptos"/>
            </a:endParaRPr>
          </a:p>
        </p:txBody>
      </p:sp>
      <p:sp>
        <p:nvSpPr>
          <p:cNvPr id="39" name="角丸四角形 38"/>
          <p:cNvSpPr/>
          <p:nvPr/>
        </p:nvSpPr>
        <p:spPr>
          <a:xfrm>
            <a:off x="7721600" y="4572000"/>
            <a:ext cx="1168400" cy="736600"/>
          </a:xfrm>
          <a:prstGeom prst="roundRect">
            <a:avLst/>
          </a:prstGeom>
          <a:solidFill>
            <a:srgbClr val="E7F0EA"/>
          </a:solidFill>
          <a:ln w="17780">
            <a:solidFill>
              <a:srgbClr val="287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kumimoji="1" lang="en-US" altLang="ja-JP" sz="1000" b="1" smtClean="0">
                <a:solidFill>
                  <a:srgbClr val="1D3035"/>
                </a:solidFill>
                <a:latin typeface="Aptos"/>
              </a:rPr>
              <a:t>11-100</a:t>
            </a:r>
          </a:p>
          <a:p>
            <a:pPr algn="ctr"/>
            <a:r>
              <a:rPr kumimoji="1" lang="en-US" altLang="ja-JP" sz="1000" b="1" smtClean="0">
                <a:solidFill>
                  <a:srgbClr val="1D3035"/>
                </a:solidFill>
                <a:latin typeface="Aptos"/>
              </a:rPr>
              <a:t>OD = 2</a:t>
            </a:r>
          </a:p>
          <a:p>
            <a:pPr algn="ctr"/>
            <a:r>
              <a:rPr kumimoji="1" lang="en-US" altLang="ja-JP" sz="1000" b="1" smtClean="0">
                <a:solidFill>
                  <a:srgbClr val="1D3035"/>
                </a:solidFill>
                <a:latin typeface="Aptos"/>
              </a:rPr>
              <a:t>LED1 ON</a:t>
            </a:r>
            <a:endParaRPr kumimoji="1" lang="ja-JP" altLang="en-US" sz="1000" b="1">
              <a:solidFill>
                <a:srgbClr val="1D3035"/>
              </a:solidFill>
              <a:latin typeface="Aptos"/>
            </a:endParaRPr>
          </a:p>
        </p:txBody>
      </p:sp>
      <p:sp>
        <p:nvSpPr>
          <p:cNvPr id="40" name="角丸四角形 39"/>
          <p:cNvSpPr/>
          <p:nvPr/>
        </p:nvSpPr>
        <p:spPr>
          <a:xfrm>
            <a:off x="9004300" y="4572000"/>
            <a:ext cx="1168400" cy="736600"/>
          </a:xfrm>
          <a:prstGeom prst="roundRect">
            <a:avLst/>
          </a:prstGeom>
          <a:solidFill>
            <a:srgbClr val="FFF4D8"/>
          </a:solidFill>
          <a:ln w="17780">
            <a:solidFill>
              <a:srgbClr val="C183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kumimoji="1" lang="da-DK" altLang="ja-JP" sz="1000" b="1" smtClean="0">
                <a:solidFill>
                  <a:srgbClr val="1D3035"/>
                </a:solidFill>
                <a:latin typeface="Aptos"/>
              </a:rPr>
              <a:t>101-255</a:t>
            </a:r>
          </a:p>
          <a:p>
            <a:pPr algn="ctr"/>
            <a:r>
              <a:rPr kumimoji="1" lang="da-DK" altLang="ja-JP" sz="1000" b="1" smtClean="0">
                <a:solidFill>
                  <a:srgbClr val="1D3035"/>
                </a:solidFill>
                <a:latin typeface="Aptos"/>
              </a:rPr>
              <a:t>OD = 1</a:t>
            </a:r>
          </a:p>
          <a:p>
            <a:pPr algn="ctr"/>
            <a:r>
              <a:rPr kumimoji="1" lang="da-DK" altLang="ja-JP" sz="1000" b="1" smtClean="0">
                <a:solidFill>
                  <a:srgbClr val="1D3035"/>
                </a:solidFill>
                <a:latin typeface="Aptos"/>
              </a:rPr>
              <a:t>LED1 blinks</a:t>
            </a:r>
            <a:endParaRPr kumimoji="1" lang="ja-JP" altLang="en-US" sz="1000" b="1">
              <a:solidFill>
                <a:srgbClr val="1D3035"/>
              </a:solidFill>
              <a:latin typeface="Aptos"/>
            </a:endParaRPr>
          </a:p>
        </p:txBody>
      </p:sp>
      <p:sp>
        <p:nvSpPr>
          <p:cNvPr id="41" name="角丸四角形 40"/>
          <p:cNvSpPr/>
          <p:nvPr/>
        </p:nvSpPr>
        <p:spPr>
          <a:xfrm>
            <a:off x="10287000" y="4572000"/>
            <a:ext cx="1168400" cy="736600"/>
          </a:xfrm>
          <a:prstGeom prst="roundRect">
            <a:avLst/>
          </a:prstGeom>
          <a:solidFill>
            <a:srgbClr val="F0F2EF"/>
          </a:solidFill>
          <a:ln w="17780">
            <a:solidFill>
              <a:srgbClr val="7582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pPr algn="ctr"/>
            <a:r>
              <a:rPr kumimoji="1" lang="en-US" altLang="ja-JP" sz="1000" b="1" smtClean="0">
                <a:solidFill>
                  <a:srgbClr val="1D3035"/>
                </a:solidFill>
                <a:latin typeface="Aptos"/>
              </a:rPr>
              <a:t>Other</a:t>
            </a:r>
          </a:p>
          <a:p>
            <a:pPr algn="ctr"/>
            <a:r>
              <a:rPr kumimoji="1" lang="en-US" altLang="ja-JP" sz="1000" b="1" smtClean="0">
                <a:solidFill>
                  <a:srgbClr val="1D3035"/>
                </a:solidFill>
                <a:latin typeface="Aptos"/>
              </a:rPr>
              <a:t>OD = 0</a:t>
            </a:r>
          </a:p>
          <a:p>
            <a:pPr algn="ctr"/>
            <a:r>
              <a:rPr kumimoji="1" lang="en-US" altLang="ja-JP" sz="1000" b="1" smtClean="0">
                <a:solidFill>
                  <a:srgbClr val="1D3035"/>
                </a:solidFill>
                <a:latin typeface="Aptos"/>
              </a:rPr>
              <a:t>LED1 OFF</a:t>
            </a:r>
            <a:endParaRPr kumimoji="1" lang="ja-JP" altLang="en-US" sz="1000" b="1">
              <a:solidFill>
                <a:srgbClr val="1D3035"/>
              </a:solidFill>
              <a:latin typeface="Aptos"/>
            </a:endParaRPr>
          </a:p>
        </p:txBody>
      </p:sp>
      <p:sp>
        <p:nvSpPr>
          <p:cNvPr id="42" name="角丸四角形 41"/>
          <p:cNvSpPr/>
          <p:nvPr/>
        </p:nvSpPr>
        <p:spPr>
          <a:xfrm>
            <a:off x="381000" y="5562600"/>
            <a:ext cx="11430000" cy="469900"/>
          </a:xfrm>
          <a:prstGeom prst="roundRect">
            <a:avLst/>
          </a:prstGeom>
          <a:solidFill>
            <a:srgbClr val="E5F2EF"/>
          </a:solidFill>
          <a:ln w="17780">
            <a:solidFill>
              <a:srgbClr val="287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r>
              <a:rPr kumimoji="1" lang="en-US" altLang="ja-JP" sz="1200" b="1" smtClean="0">
                <a:solidFill>
                  <a:srgbClr val="1D3035"/>
                </a:solidFill>
                <a:latin typeface="Aptos"/>
              </a:rPr>
              <a:t>TOGGLE-OFF EXCEPTION   LED2 ON + MotorDuty &gt; 0 + distance 0-10  -&gt;  LED1 ON; ObjectDetectionStatus = 0</a:t>
            </a:r>
            <a:endParaRPr kumimoji="1" lang="ja-JP" altLang="en-US" sz="1200" b="1">
              <a:solidFill>
                <a:srgbClr val="1D3035"/>
              </a:solidFill>
              <a:latin typeface="Aptos"/>
            </a:endParaRPr>
          </a:p>
        </p:txBody>
      </p:sp>
      <p:sp>
        <p:nvSpPr>
          <p:cNvPr id="43" name="角丸四角形 42"/>
          <p:cNvSpPr/>
          <p:nvPr/>
        </p:nvSpPr>
        <p:spPr>
          <a:xfrm>
            <a:off x="381000" y="6159500"/>
            <a:ext cx="11430000" cy="533400"/>
          </a:xfrm>
          <a:prstGeom prst="roundRect">
            <a:avLst/>
          </a:prstGeom>
          <a:solidFill>
            <a:srgbClr val="132E32"/>
          </a:solidFill>
          <a:ln w="17780">
            <a:solidFill>
              <a:srgbClr val="132E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38100" rIns="88900" bIns="38100" rtlCol="0" anchor="ctr"/>
          <a:lstStyle/>
          <a:p>
            <a:r>
              <a:rPr kumimoji="1" lang="en-US" altLang="ja-JP" sz="1300" b="1" smtClean="0">
                <a:solidFill>
                  <a:srgbClr val="FFFFFF"/>
                </a:solidFill>
                <a:latin typeface="Aptos"/>
              </a:rPr>
              <a:t>CANalyzer output  |  CAN ID 0x102  |  Byte 0: CarStatus  |  Byte 1: ObjectDetectionStatus  |  Send on change or 20-callback timeout</a:t>
            </a:r>
            <a:endParaRPr kumimoji="1" lang="ja-JP" altLang="en-US" sz="1300" b="1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38201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132E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/>
          <p:cNvSpPr/>
          <p:nvPr/>
        </p:nvSpPr>
        <p:spPr>
          <a:xfrm>
            <a:off x="0" y="1003300"/>
            <a:ext cx="12192000" cy="38100"/>
          </a:xfrm>
          <a:prstGeom prst="rect">
            <a:avLst/>
          </a:prstGeom>
          <a:solidFill>
            <a:srgbClr val="D29B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82600" y="80834"/>
            <a:ext cx="11176000" cy="3949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kumimoji="1" lang="en-US" altLang="ja-JP" sz="2400" b="1" smtClean="0">
                <a:solidFill>
                  <a:srgbClr val="FFFFFF"/>
                </a:solidFill>
                <a:latin typeface="Aptos"/>
              </a:rPr>
              <a:t>01  Startup and Push Button -&gt; LED2</a:t>
            </a:r>
            <a:endParaRPr kumimoji="1" lang="ja-JP" altLang="en-US" sz="2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508000" y="6508150"/>
            <a:ext cx="1117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kumimoji="1" lang="en-US" altLang="ja-JP" sz="900" smtClean="0">
                <a:solidFill>
                  <a:srgbClr val="63736F"/>
                </a:solidFill>
                <a:latin typeface="Aptos"/>
              </a:rPr>
              <a:t>Mapping: initialization, input debounce, delayed short press, and 10-second hold fault.</a:t>
            </a:r>
            <a:endParaRPr kumimoji="1" lang="ja-JP" altLang="en-US" sz="900">
              <a:solidFill>
                <a:srgbClr val="63736F"/>
              </a:solidFill>
              <a:latin typeface="Aptos"/>
            </a:endParaRPr>
          </a:p>
        </p:txBody>
      </p:sp>
      <p:sp>
        <p:nvSpPr>
          <p:cNvPr id="27" name="角丸四角形 26"/>
          <p:cNvSpPr/>
          <p:nvPr/>
        </p:nvSpPr>
        <p:spPr>
          <a:xfrm>
            <a:off x="482600" y="1524000"/>
            <a:ext cx="3683000" cy="863600"/>
          </a:xfrm>
          <a:prstGeom prst="roundRect">
            <a:avLst/>
          </a:prstGeom>
          <a:solidFill>
            <a:srgbClr val="E5F2EF"/>
          </a:solidFill>
          <a:ln w="15875">
            <a:solidFill>
              <a:srgbClr val="287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kumimoji="1" lang="en-US" altLang="ja-JP" sz="1200" b="1" smtClean="0">
                <a:solidFill>
                  <a:srgbClr val="1D3035"/>
                </a:solidFill>
                <a:latin typeface="Aptos"/>
              </a:rPr>
              <a:t>01  Startup + GPIO</a:t>
            </a:r>
          </a:p>
          <a:p>
            <a:pPr algn="ctr"/>
            <a:r>
              <a:rPr kumimoji="1" lang="en-US" altLang="ja-JP" sz="1200" b="1" smtClean="0">
                <a:solidFill>
                  <a:srgbClr val="1D3035"/>
                </a:solidFill>
                <a:latin typeface="Aptos"/>
              </a:rPr>
              <a:t>main() sets initial outputs</a:t>
            </a:r>
            <a:endParaRPr kumimoji="1" lang="ja-JP" altLang="en-US" sz="1200" b="1">
              <a:solidFill>
                <a:srgbClr val="1D3035"/>
              </a:solidFill>
              <a:latin typeface="Aptos"/>
            </a:endParaRPr>
          </a:p>
        </p:txBody>
      </p:sp>
      <p:cxnSp>
        <p:nvCxnSpPr>
          <p:cNvPr id="28" name="直線コネクタ 27"/>
          <p:cNvCxnSpPr/>
          <p:nvPr/>
        </p:nvCxnSpPr>
        <p:spPr>
          <a:xfrm>
            <a:off x="4241800" y="1955800"/>
            <a:ext cx="241300" cy="0"/>
          </a:xfrm>
          <a:prstGeom prst="line">
            <a:avLst/>
          </a:prstGeom>
          <a:ln w="15240">
            <a:solidFill>
              <a:srgbClr val="9BAA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/>
          <p:cNvSpPr txBox="1"/>
          <p:nvPr/>
        </p:nvSpPr>
        <p:spPr>
          <a:xfrm>
            <a:off x="4622800" y="1508197"/>
            <a:ext cx="6858000" cy="143629"/>
          </a:xfrm>
          <a:prstGeom prst="rect">
            <a:avLst/>
          </a:prstGeom>
          <a:noFill/>
        </p:spPr>
        <p:txBody>
          <a:bodyPr vert="horz" wrap="square" lIns="25400" tIns="0" rIns="25400" bIns="12700" rtlCol="0" anchor="t">
            <a:spAutoFit/>
          </a:bodyPr>
          <a:lstStyle/>
          <a:p>
            <a:r>
              <a:rPr kumimoji="1" lang="en-US" altLang="ja-JP" sz="850" b="1" smtClean="0">
                <a:solidFill>
                  <a:srgbClr val="425650"/>
                </a:solidFill>
                <a:latin typeface="Aptos"/>
              </a:rPr>
              <a:t>src/Requirement_1.c  |  lines 32-46</a:t>
            </a:r>
            <a:endParaRPr kumimoji="1" lang="ja-JP" altLang="en-US" sz="850" b="1">
              <a:solidFill>
                <a:srgbClr val="425650"/>
              </a:solidFill>
              <a:latin typeface="Aptos"/>
            </a:endParaRPr>
          </a:p>
        </p:txBody>
      </p:sp>
      <p:sp>
        <p:nvSpPr>
          <p:cNvPr id="30" name="角丸四角形 29"/>
          <p:cNvSpPr/>
          <p:nvPr/>
        </p:nvSpPr>
        <p:spPr>
          <a:xfrm>
            <a:off x="4546600" y="1739900"/>
            <a:ext cx="7188200" cy="723900"/>
          </a:xfrm>
          <a:prstGeom prst="roundRect">
            <a:avLst/>
          </a:prstGeom>
          <a:solidFill>
            <a:srgbClr val="19363A"/>
          </a:solidFill>
          <a:ln w="12700">
            <a:solidFill>
              <a:srgbClr val="1936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4699000" y="1715701"/>
            <a:ext cx="6883400" cy="543226"/>
          </a:xfrm>
          <a:prstGeom prst="rect">
            <a:avLst/>
          </a:prstGeom>
          <a:noFill/>
        </p:spPr>
        <p:txBody>
          <a:bodyPr vert="horz" wrap="square" lIns="25400" tIns="25400" rIns="25400" bIns="12700" rtlCol="0" anchor="t">
            <a:spAutoFit/>
          </a:bodyPr>
          <a:lstStyle/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CAN1Init();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PORT9.PODR.BIT.B5 = 0;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PORT9.PODR.BIT.B6 = 0;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CMT0_init();</a:t>
            </a:r>
            <a:endParaRPr kumimoji="1" lang="ja-JP" altLang="en-US" sz="820">
              <a:solidFill>
                <a:srgbClr val="F5F7F4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角丸四角形 31"/>
          <p:cNvSpPr/>
          <p:nvPr/>
        </p:nvSpPr>
        <p:spPr>
          <a:xfrm>
            <a:off x="482600" y="2705100"/>
            <a:ext cx="3683000" cy="863600"/>
          </a:xfrm>
          <a:prstGeom prst="roundRect">
            <a:avLst/>
          </a:prstGeom>
          <a:solidFill>
            <a:srgbClr val="E5F2EF"/>
          </a:solidFill>
          <a:ln w="15875">
            <a:solidFill>
              <a:srgbClr val="287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kumimoji="1" lang="en-US" altLang="ja-JP" sz="1200" b="1" smtClean="0">
                <a:solidFill>
                  <a:srgbClr val="1D3035"/>
                </a:solidFill>
                <a:latin typeface="Aptos"/>
              </a:rPr>
              <a:t>02  CAN receive + timer</a:t>
            </a:r>
          </a:p>
          <a:p>
            <a:pPr algn="ctr"/>
            <a:r>
              <a:rPr kumimoji="1" lang="en-US" altLang="ja-JP" sz="1200" b="1" smtClean="0">
                <a:solidFill>
                  <a:srgbClr val="1D3035"/>
                </a:solidFill>
                <a:latin typeface="Aptos"/>
              </a:rPr>
              <a:t>CAN1Init() / CMT0_init()</a:t>
            </a:r>
            <a:endParaRPr kumimoji="1" lang="ja-JP" altLang="en-US" sz="1200" b="1">
              <a:solidFill>
                <a:srgbClr val="1D3035"/>
              </a:solidFill>
              <a:latin typeface="Aptos"/>
            </a:endParaRPr>
          </a:p>
        </p:txBody>
      </p:sp>
      <p:cxnSp>
        <p:nvCxnSpPr>
          <p:cNvPr id="33" name="直線コネクタ 32"/>
          <p:cNvCxnSpPr/>
          <p:nvPr/>
        </p:nvCxnSpPr>
        <p:spPr>
          <a:xfrm>
            <a:off x="4241800" y="3136900"/>
            <a:ext cx="241300" cy="0"/>
          </a:xfrm>
          <a:prstGeom prst="line">
            <a:avLst/>
          </a:prstGeom>
          <a:ln w="15240">
            <a:solidFill>
              <a:srgbClr val="9BAA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/>
          <p:cNvSpPr txBox="1"/>
          <p:nvPr/>
        </p:nvSpPr>
        <p:spPr>
          <a:xfrm>
            <a:off x="4622800" y="2689297"/>
            <a:ext cx="6858000" cy="143629"/>
          </a:xfrm>
          <a:prstGeom prst="rect">
            <a:avLst/>
          </a:prstGeom>
          <a:noFill/>
        </p:spPr>
        <p:txBody>
          <a:bodyPr vert="horz" wrap="square" lIns="25400" tIns="0" rIns="25400" bIns="12700" rtlCol="0" anchor="t">
            <a:spAutoFit/>
          </a:bodyPr>
          <a:lstStyle/>
          <a:p>
            <a:r>
              <a:rPr kumimoji="1" lang="en-US" altLang="ja-JP" sz="850" b="1" smtClean="0">
                <a:solidFill>
                  <a:srgbClr val="425650"/>
                </a:solidFill>
                <a:latin typeface="Aptos"/>
              </a:rPr>
              <a:t>src/Requirement_1.c  |  lines 210-244</a:t>
            </a:r>
            <a:endParaRPr kumimoji="1" lang="ja-JP" altLang="en-US" sz="850" b="1">
              <a:solidFill>
                <a:srgbClr val="425650"/>
              </a:solidFill>
              <a:latin typeface="Aptos"/>
            </a:endParaRPr>
          </a:p>
        </p:txBody>
      </p:sp>
      <p:sp>
        <p:nvSpPr>
          <p:cNvPr id="35" name="角丸四角形 34"/>
          <p:cNvSpPr/>
          <p:nvPr/>
        </p:nvSpPr>
        <p:spPr>
          <a:xfrm>
            <a:off x="4546600" y="2921000"/>
            <a:ext cx="7188200" cy="723900"/>
          </a:xfrm>
          <a:prstGeom prst="roundRect">
            <a:avLst/>
          </a:prstGeom>
          <a:solidFill>
            <a:srgbClr val="19363A"/>
          </a:solidFill>
          <a:ln w="12700">
            <a:solidFill>
              <a:srgbClr val="1936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4699000" y="2966051"/>
            <a:ext cx="6883400" cy="417037"/>
          </a:xfrm>
          <a:prstGeom prst="rect">
            <a:avLst/>
          </a:prstGeom>
          <a:noFill/>
        </p:spPr>
        <p:txBody>
          <a:bodyPr vert="horz" wrap="square" lIns="25400" tIns="25400" rIns="25400" bIns="12700" rtlCol="0" anchor="t">
            <a:spAutoFit/>
          </a:bodyPr>
          <a:lstStyle/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R_CAN_RxSet(1U, CAN_RX_MAILBOX, 0x201U, DATA_FRAME);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R_CAN_Control(1, OPERATE_CANMODE);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R_CMT_CreatePeriodic(1000, INT_Excep_CMT0_CMI0, &amp;channel);</a:t>
            </a:r>
            <a:endParaRPr kumimoji="1" lang="ja-JP" altLang="en-US" sz="820">
              <a:solidFill>
                <a:srgbClr val="F5F7F4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ひし形 36"/>
          <p:cNvSpPr/>
          <p:nvPr/>
        </p:nvSpPr>
        <p:spPr>
          <a:xfrm>
            <a:off x="482600" y="3886200"/>
            <a:ext cx="3683000" cy="863600"/>
          </a:xfrm>
          <a:prstGeom prst="diamond">
            <a:avLst/>
          </a:prstGeom>
          <a:solidFill>
            <a:srgbClr val="FFF4D8"/>
          </a:solidFill>
          <a:ln w="15875">
            <a:solidFill>
              <a:srgbClr val="C183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kumimoji="1" lang="en-US" altLang="ja-JP" sz="1200" b="1" smtClean="0">
                <a:solidFill>
                  <a:srgbClr val="1D3035"/>
                </a:solidFill>
                <a:latin typeface="Aptos"/>
              </a:rPr>
              <a:t>03  Debounced press</a:t>
            </a:r>
          </a:p>
          <a:p>
            <a:pPr algn="ctr"/>
            <a:r>
              <a:rPr kumimoji="1" lang="en-US" altLang="ja-JP" sz="1200" b="1" smtClean="0">
                <a:solidFill>
                  <a:srgbClr val="1D3035"/>
                </a:solidFill>
                <a:latin typeface="Aptos"/>
              </a:rPr>
              <a:t>Short release path</a:t>
            </a:r>
            <a:endParaRPr kumimoji="1" lang="ja-JP" altLang="en-US" sz="1200" b="1">
              <a:solidFill>
                <a:srgbClr val="1D3035"/>
              </a:solidFill>
              <a:latin typeface="Aptos"/>
            </a:endParaRPr>
          </a:p>
        </p:txBody>
      </p:sp>
      <p:cxnSp>
        <p:nvCxnSpPr>
          <p:cNvPr id="38" name="直線コネクタ 37"/>
          <p:cNvCxnSpPr/>
          <p:nvPr/>
        </p:nvCxnSpPr>
        <p:spPr>
          <a:xfrm>
            <a:off x="4241800" y="4318000"/>
            <a:ext cx="241300" cy="0"/>
          </a:xfrm>
          <a:prstGeom prst="line">
            <a:avLst/>
          </a:prstGeom>
          <a:ln w="15240">
            <a:solidFill>
              <a:srgbClr val="9BAA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/>
          <p:cNvSpPr txBox="1"/>
          <p:nvPr/>
        </p:nvSpPr>
        <p:spPr>
          <a:xfrm>
            <a:off x="4622800" y="3870397"/>
            <a:ext cx="6858000" cy="143629"/>
          </a:xfrm>
          <a:prstGeom prst="rect">
            <a:avLst/>
          </a:prstGeom>
          <a:noFill/>
        </p:spPr>
        <p:txBody>
          <a:bodyPr vert="horz" wrap="square" lIns="25400" tIns="0" rIns="25400" bIns="12700" rtlCol="0" anchor="t">
            <a:spAutoFit/>
          </a:bodyPr>
          <a:lstStyle/>
          <a:p>
            <a:r>
              <a:rPr kumimoji="1" lang="en-US" altLang="ja-JP" sz="850" b="1" smtClean="0">
                <a:solidFill>
                  <a:srgbClr val="425650"/>
                </a:solidFill>
                <a:latin typeface="Aptos"/>
              </a:rPr>
              <a:t>src/Requirement_1.c  |  lines 98-117</a:t>
            </a:r>
            <a:endParaRPr kumimoji="1" lang="ja-JP" altLang="en-US" sz="850" b="1">
              <a:solidFill>
                <a:srgbClr val="425650"/>
              </a:solidFill>
              <a:latin typeface="Aptos"/>
            </a:endParaRPr>
          </a:p>
        </p:txBody>
      </p:sp>
      <p:sp>
        <p:nvSpPr>
          <p:cNvPr id="40" name="角丸四角形 39"/>
          <p:cNvSpPr/>
          <p:nvPr/>
        </p:nvSpPr>
        <p:spPr>
          <a:xfrm>
            <a:off x="4546600" y="4102100"/>
            <a:ext cx="7188200" cy="723900"/>
          </a:xfrm>
          <a:prstGeom prst="roundRect">
            <a:avLst/>
          </a:prstGeom>
          <a:solidFill>
            <a:srgbClr val="19363A"/>
          </a:solidFill>
          <a:ln w="12700">
            <a:solidFill>
              <a:srgbClr val="1936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4699000" y="3939401"/>
            <a:ext cx="6883400" cy="795602"/>
          </a:xfrm>
          <a:prstGeom prst="rect">
            <a:avLst/>
          </a:prstGeom>
          <a:noFill/>
        </p:spPr>
        <p:txBody>
          <a:bodyPr vert="horz" wrap="square" lIns="25400" tIns="25400" rIns="25400" bIns="12700" rtlCol="0" anchor="t">
            <a:spAutoFit/>
          </a:bodyPr>
          <a:lstStyle/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} else if (++debounceTicks &gt;= 20U) {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    stableButtonState = rawButtonState;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    debounceTicks = 0U;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    if (stuckButtonFault == 0U) {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        releaseDelayTicks = 3000U;</a:t>
            </a:r>
            <a:endParaRPr kumimoji="1" lang="ja-JP" altLang="en-US" sz="820">
              <a:solidFill>
                <a:srgbClr val="F5F7F4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ひし形 41"/>
          <p:cNvSpPr/>
          <p:nvPr/>
        </p:nvSpPr>
        <p:spPr>
          <a:xfrm>
            <a:off x="482600" y="5067300"/>
            <a:ext cx="3683000" cy="863600"/>
          </a:xfrm>
          <a:prstGeom prst="diamond">
            <a:avLst/>
          </a:prstGeom>
          <a:solidFill>
            <a:srgbClr val="FFF4D8"/>
          </a:solidFill>
          <a:ln w="15875">
            <a:solidFill>
              <a:srgbClr val="C183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kumimoji="1" lang="en-US" altLang="ja-JP" sz="1200" b="1" smtClean="0">
                <a:solidFill>
                  <a:srgbClr val="1D3035"/>
                </a:solidFill>
                <a:latin typeface="Aptos"/>
              </a:rPr>
              <a:t>04  Long-hold fault</a:t>
            </a:r>
          </a:p>
          <a:p>
            <a:pPr algn="ctr"/>
            <a:r>
              <a:rPr kumimoji="1" lang="en-US" altLang="ja-JP" sz="1200" b="1" smtClean="0">
                <a:solidFill>
                  <a:srgbClr val="1D3035"/>
                </a:solidFill>
                <a:latin typeface="Aptos"/>
              </a:rPr>
              <a:t>LED2 blink + CarStatus</a:t>
            </a:r>
            <a:endParaRPr kumimoji="1" lang="ja-JP" altLang="en-US" sz="1200" b="1">
              <a:solidFill>
                <a:srgbClr val="1D3035"/>
              </a:solidFill>
              <a:latin typeface="Aptos"/>
            </a:endParaRPr>
          </a:p>
        </p:txBody>
      </p:sp>
      <p:cxnSp>
        <p:nvCxnSpPr>
          <p:cNvPr id="43" name="直線コネクタ 42"/>
          <p:cNvCxnSpPr/>
          <p:nvPr/>
        </p:nvCxnSpPr>
        <p:spPr>
          <a:xfrm>
            <a:off x="4241800" y="5499100"/>
            <a:ext cx="241300" cy="0"/>
          </a:xfrm>
          <a:prstGeom prst="line">
            <a:avLst/>
          </a:prstGeom>
          <a:ln w="15240">
            <a:solidFill>
              <a:srgbClr val="9BAA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/>
          <p:cNvSpPr txBox="1"/>
          <p:nvPr/>
        </p:nvSpPr>
        <p:spPr>
          <a:xfrm>
            <a:off x="4622800" y="5051497"/>
            <a:ext cx="6858000" cy="143629"/>
          </a:xfrm>
          <a:prstGeom prst="rect">
            <a:avLst/>
          </a:prstGeom>
          <a:noFill/>
        </p:spPr>
        <p:txBody>
          <a:bodyPr vert="horz" wrap="square" lIns="25400" tIns="0" rIns="25400" bIns="12700" rtlCol="0" anchor="t">
            <a:spAutoFit/>
          </a:bodyPr>
          <a:lstStyle/>
          <a:p>
            <a:r>
              <a:rPr kumimoji="1" lang="en-US" altLang="ja-JP" sz="850" b="1" smtClean="0">
                <a:solidFill>
                  <a:srgbClr val="425650"/>
                </a:solidFill>
                <a:latin typeface="Aptos"/>
              </a:rPr>
              <a:t>src/Requirement_1.c  |  lines 123-141, 176-177</a:t>
            </a:r>
            <a:endParaRPr kumimoji="1" lang="ja-JP" altLang="en-US" sz="850" b="1">
              <a:solidFill>
                <a:srgbClr val="425650"/>
              </a:solidFill>
              <a:latin typeface="Aptos"/>
            </a:endParaRPr>
          </a:p>
        </p:txBody>
      </p:sp>
      <p:sp>
        <p:nvSpPr>
          <p:cNvPr id="45" name="角丸四角形 44"/>
          <p:cNvSpPr/>
          <p:nvPr/>
        </p:nvSpPr>
        <p:spPr>
          <a:xfrm>
            <a:off x="4546600" y="5283200"/>
            <a:ext cx="7188200" cy="723900"/>
          </a:xfrm>
          <a:prstGeom prst="roundRect">
            <a:avLst/>
          </a:prstGeom>
          <a:solidFill>
            <a:srgbClr val="19363A"/>
          </a:solidFill>
          <a:ln w="12700">
            <a:solidFill>
              <a:srgbClr val="1936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4699000" y="5259001"/>
            <a:ext cx="6883400" cy="543226"/>
          </a:xfrm>
          <a:prstGeom prst="rect">
            <a:avLst/>
          </a:prstGeom>
          <a:noFill/>
        </p:spPr>
        <p:txBody>
          <a:bodyPr vert="horz" wrap="square" lIns="25400" tIns="25400" rIns="25400" bIns="12700" rtlCol="0" anchor="t">
            <a:spAutoFit/>
          </a:bodyPr>
          <a:lstStyle/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if (buttonHoldTicks &gt;= 10000U) {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    stuckButtonFault = 1U;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    if (++led2BlinkTicks &gt;= 500U) {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        led2BlinkState = (unsigned char)!led2BlinkState;</a:t>
            </a:r>
            <a:endParaRPr kumimoji="1" lang="ja-JP" altLang="en-US" sz="820">
              <a:solidFill>
                <a:srgbClr val="F5F7F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355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132E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/>
          <p:cNvSpPr/>
          <p:nvPr/>
        </p:nvSpPr>
        <p:spPr>
          <a:xfrm>
            <a:off x="0" y="1003300"/>
            <a:ext cx="12192000" cy="38100"/>
          </a:xfrm>
          <a:prstGeom prst="rect">
            <a:avLst/>
          </a:prstGeom>
          <a:solidFill>
            <a:srgbClr val="D29B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82600" y="80834"/>
            <a:ext cx="11176000" cy="3949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kumimoji="1" lang="en-US" altLang="ja-JP" sz="2400" b="1" smtClean="0">
                <a:solidFill>
                  <a:srgbClr val="FFFFFF"/>
                </a:solidFill>
                <a:latin typeface="Aptos"/>
              </a:rPr>
              <a:t>02  CAN Input and Distance Detection</a:t>
            </a:r>
            <a:endParaRPr kumimoji="1" lang="ja-JP" altLang="en-US" sz="2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508000" y="6508150"/>
            <a:ext cx="1117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kumimoji="1" lang="en-US" altLang="ja-JP" sz="900" smtClean="0">
                <a:solidFill>
                  <a:srgbClr val="63736F"/>
                </a:solidFill>
                <a:latin typeface="Aptos"/>
              </a:rPr>
              <a:t>Normal detection requires LED2 ON, MotorDuty &gt; 0, toggle ON, and no stuck-button fault.</a:t>
            </a:r>
            <a:endParaRPr kumimoji="1" lang="ja-JP" altLang="en-US" sz="900">
              <a:solidFill>
                <a:srgbClr val="63736F"/>
              </a:solidFill>
              <a:latin typeface="Aptos"/>
            </a:endParaRPr>
          </a:p>
        </p:txBody>
      </p:sp>
      <p:sp>
        <p:nvSpPr>
          <p:cNvPr id="22" name="角丸四角形 21"/>
          <p:cNvSpPr/>
          <p:nvPr/>
        </p:nvSpPr>
        <p:spPr>
          <a:xfrm>
            <a:off x="482600" y="1524000"/>
            <a:ext cx="3683000" cy="863600"/>
          </a:xfrm>
          <a:prstGeom prst="roundRect">
            <a:avLst/>
          </a:prstGeom>
          <a:solidFill>
            <a:srgbClr val="E5F2EF"/>
          </a:solidFill>
          <a:ln w="15875">
            <a:solidFill>
              <a:srgbClr val="287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kumimoji="1" lang="en-US" altLang="ja-JP" sz="1200" b="1" smtClean="0">
                <a:solidFill>
                  <a:srgbClr val="1D3035"/>
                </a:solidFill>
                <a:latin typeface="Aptos"/>
              </a:rPr>
              <a:t>05  Read MotorDuty + distance</a:t>
            </a:r>
            <a:endParaRPr kumimoji="1" lang="ja-JP" altLang="en-US" sz="1200" b="1">
              <a:solidFill>
                <a:srgbClr val="1D3035"/>
              </a:solidFill>
              <a:latin typeface="Aptos"/>
            </a:endParaRPr>
          </a:p>
        </p:txBody>
      </p:sp>
      <p:cxnSp>
        <p:nvCxnSpPr>
          <p:cNvPr id="23" name="直線コネクタ 22"/>
          <p:cNvCxnSpPr/>
          <p:nvPr/>
        </p:nvCxnSpPr>
        <p:spPr>
          <a:xfrm>
            <a:off x="4241800" y="1955800"/>
            <a:ext cx="241300" cy="0"/>
          </a:xfrm>
          <a:prstGeom prst="line">
            <a:avLst/>
          </a:prstGeom>
          <a:ln w="15240">
            <a:solidFill>
              <a:srgbClr val="9BAA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/>
          <p:cNvSpPr txBox="1"/>
          <p:nvPr/>
        </p:nvSpPr>
        <p:spPr>
          <a:xfrm>
            <a:off x="4622800" y="1508197"/>
            <a:ext cx="6858000" cy="143629"/>
          </a:xfrm>
          <a:prstGeom prst="rect">
            <a:avLst/>
          </a:prstGeom>
          <a:noFill/>
        </p:spPr>
        <p:txBody>
          <a:bodyPr vert="horz" wrap="square" lIns="25400" tIns="0" rIns="25400" bIns="12700" rtlCol="0" anchor="t">
            <a:spAutoFit/>
          </a:bodyPr>
          <a:lstStyle/>
          <a:p>
            <a:r>
              <a:rPr kumimoji="1" lang="en-US" altLang="ja-JP" sz="850" b="1" smtClean="0">
                <a:solidFill>
                  <a:srgbClr val="425650"/>
                </a:solidFill>
                <a:latin typeface="Aptos"/>
              </a:rPr>
              <a:t>src/Requirement_1.c  |  lines 78-82</a:t>
            </a:r>
            <a:endParaRPr kumimoji="1" lang="ja-JP" altLang="en-US" sz="850" b="1">
              <a:solidFill>
                <a:srgbClr val="425650"/>
              </a:solidFill>
              <a:latin typeface="Aptos"/>
            </a:endParaRPr>
          </a:p>
        </p:txBody>
      </p:sp>
      <p:sp>
        <p:nvSpPr>
          <p:cNvPr id="25" name="角丸四角形 24"/>
          <p:cNvSpPr/>
          <p:nvPr/>
        </p:nvSpPr>
        <p:spPr>
          <a:xfrm>
            <a:off x="4546600" y="1739900"/>
            <a:ext cx="7188200" cy="723900"/>
          </a:xfrm>
          <a:prstGeom prst="roundRect">
            <a:avLst/>
          </a:prstGeom>
          <a:solidFill>
            <a:srgbClr val="19363A"/>
          </a:solidFill>
          <a:ln w="12700">
            <a:solidFill>
              <a:srgbClr val="1936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4699000" y="1715701"/>
            <a:ext cx="6883400" cy="543226"/>
          </a:xfrm>
          <a:prstGeom prst="rect">
            <a:avLst/>
          </a:prstGeom>
          <a:noFill/>
        </p:spPr>
        <p:txBody>
          <a:bodyPr vert="horz" wrap="square" lIns="25400" tIns="25400" rIns="25400" bIns="12700" rtlCol="0" anchor="t">
            <a:spAutoFit/>
          </a:bodyPr>
          <a:lstStyle/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if (R_CAN_RxPoll(1U, CAN_RX_MAILBOX) == R_CAN_OK) {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    if (R_CAN_RxRead(1U, NORMAL_MAILBOX_MODE, CAN_RX_MAILBOX, &amp;rxFrame) == R_CAN_OK) {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        motorDuty = rxFrame.data[0];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        distanceSensor = (unsigned short)rxFrame.data[1] | ((unsigned short)rxFrame.data[2] &lt;&lt; 8);</a:t>
            </a:r>
            <a:endParaRPr kumimoji="1" lang="ja-JP" altLang="en-US" sz="820">
              <a:solidFill>
                <a:srgbClr val="F5F7F4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ひし形 26"/>
          <p:cNvSpPr/>
          <p:nvPr/>
        </p:nvSpPr>
        <p:spPr>
          <a:xfrm>
            <a:off x="482600" y="2705100"/>
            <a:ext cx="3683000" cy="863600"/>
          </a:xfrm>
          <a:prstGeom prst="diamond">
            <a:avLst/>
          </a:prstGeom>
          <a:solidFill>
            <a:srgbClr val="FFF4D8"/>
          </a:solidFill>
          <a:ln w="15875">
            <a:solidFill>
              <a:srgbClr val="C183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kumimoji="1" lang="en-US" altLang="ja-JP" sz="1200" b="1" smtClean="0">
                <a:solidFill>
                  <a:srgbClr val="1D3035"/>
                </a:solidFill>
                <a:latin typeface="Aptos"/>
              </a:rPr>
              <a:t>06  Normal detection gate</a:t>
            </a:r>
            <a:endParaRPr kumimoji="1" lang="ja-JP" altLang="en-US" sz="1200" b="1">
              <a:solidFill>
                <a:srgbClr val="1D3035"/>
              </a:solidFill>
              <a:latin typeface="Aptos"/>
            </a:endParaRPr>
          </a:p>
        </p:txBody>
      </p:sp>
      <p:cxnSp>
        <p:nvCxnSpPr>
          <p:cNvPr id="28" name="直線コネクタ 27"/>
          <p:cNvCxnSpPr/>
          <p:nvPr/>
        </p:nvCxnSpPr>
        <p:spPr>
          <a:xfrm>
            <a:off x="4241800" y="3136900"/>
            <a:ext cx="241300" cy="0"/>
          </a:xfrm>
          <a:prstGeom prst="line">
            <a:avLst/>
          </a:prstGeom>
          <a:ln w="15240">
            <a:solidFill>
              <a:srgbClr val="9BAA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/>
          <p:cNvSpPr txBox="1"/>
          <p:nvPr/>
        </p:nvSpPr>
        <p:spPr>
          <a:xfrm>
            <a:off x="4622800" y="2689297"/>
            <a:ext cx="6858000" cy="143629"/>
          </a:xfrm>
          <a:prstGeom prst="rect">
            <a:avLst/>
          </a:prstGeom>
          <a:noFill/>
        </p:spPr>
        <p:txBody>
          <a:bodyPr vert="horz" wrap="square" lIns="25400" tIns="0" rIns="25400" bIns="12700" rtlCol="0" anchor="t">
            <a:spAutoFit/>
          </a:bodyPr>
          <a:lstStyle/>
          <a:p>
            <a:r>
              <a:rPr kumimoji="1" lang="en-US" altLang="ja-JP" sz="850" b="1" smtClean="0">
                <a:solidFill>
                  <a:srgbClr val="425650"/>
                </a:solidFill>
                <a:latin typeface="Aptos"/>
              </a:rPr>
              <a:t>src/Requirement_1.c  |  lines 144-146</a:t>
            </a:r>
            <a:endParaRPr kumimoji="1" lang="ja-JP" altLang="en-US" sz="850" b="1">
              <a:solidFill>
                <a:srgbClr val="425650"/>
              </a:solidFill>
              <a:latin typeface="Aptos"/>
            </a:endParaRPr>
          </a:p>
        </p:txBody>
      </p:sp>
      <p:sp>
        <p:nvSpPr>
          <p:cNvPr id="30" name="角丸四角形 29"/>
          <p:cNvSpPr/>
          <p:nvPr/>
        </p:nvSpPr>
        <p:spPr>
          <a:xfrm>
            <a:off x="4546600" y="2921000"/>
            <a:ext cx="7188200" cy="723900"/>
          </a:xfrm>
          <a:prstGeom prst="roundRect">
            <a:avLst/>
          </a:prstGeom>
          <a:solidFill>
            <a:srgbClr val="19363A"/>
          </a:solidFill>
          <a:ln w="12700">
            <a:solidFill>
              <a:srgbClr val="1936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4699000" y="2966050"/>
            <a:ext cx="6883400" cy="417037"/>
          </a:xfrm>
          <a:prstGeom prst="rect">
            <a:avLst/>
          </a:prstGeom>
          <a:noFill/>
        </p:spPr>
        <p:txBody>
          <a:bodyPr vert="horz" wrap="square" lIns="25400" tIns="25400" rIns="25400" bIns="12700" rtlCol="0" anchor="t">
            <a:spAutoFit/>
          </a:bodyPr>
          <a:lstStyle/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detectionEnabled = (unsigned char)((led2State != 0U)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    &amp;&amp; (motorDuty &gt; 0U) &amp;&amp; (toggleIsOn != 0U)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    &amp;&amp; (stuckButtonFault == 0U));</a:t>
            </a:r>
            <a:endParaRPr kumimoji="1" lang="ja-JP" altLang="en-US" sz="820">
              <a:solidFill>
                <a:srgbClr val="F5F7F4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ひし形 31"/>
          <p:cNvSpPr/>
          <p:nvPr/>
        </p:nvSpPr>
        <p:spPr>
          <a:xfrm>
            <a:off x="482600" y="3886200"/>
            <a:ext cx="3683000" cy="863600"/>
          </a:xfrm>
          <a:prstGeom prst="diamond">
            <a:avLst/>
          </a:prstGeom>
          <a:solidFill>
            <a:srgbClr val="FFF4D8"/>
          </a:solidFill>
          <a:ln w="15875">
            <a:solidFill>
              <a:srgbClr val="C183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kumimoji="1" lang="en-US" altLang="ja-JP" sz="1200" b="1" smtClean="0">
                <a:solidFill>
                  <a:srgbClr val="1D3035"/>
                </a:solidFill>
                <a:latin typeface="Aptos"/>
              </a:rPr>
              <a:t>07  Toggle-OFF exception</a:t>
            </a:r>
            <a:endParaRPr kumimoji="1" lang="ja-JP" altLang="en-US" sz="1200" b="1">
              <a:solidFill>
                <a:srgbClr val="1D3035"/>
              </a:solidFill>
              <a:latin typeface="Aptos"/>
            </a:endParaRPr>
          </a:p>
        </p:txBody>
      </p:sp>
      <p:cxnSp>
        <p:nvCxnSpPr>
          <p:cNvPr id="33" name="直線コネクタ 32"/>
          <p:cNvCxnSpPr/>
          <p:nvPr/>
        </p:nvCxnSpPr>
        <p:spPr>
          <a:xfrm>
            <a:off x="4241800" y="4318000"/>
            <a:ext cx="241300" cy="0"/>
          </a:xfrm>
          <a:prstGeom prst="line">
            <a:avLst/>
          </a:prstGeom>
          <a:ln w="15240">
            <a:solidFill>
              <a:srgbClr val="9BAA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/>
          <p:cNvSpPr txBox="1"/>
          <p:nvPr/>
        </p:nvSpPr>
        <p:spPr>
          <a:xfrm>
            <a:off x="4622800" y="3870397"/>
            <a:ext cx="6858000" cy="143629"/>
          </a:xfrm>
          <a:prstGeom prst="rect">
            <a:avLst/>
          </a:prstGeom>
          <a:noFill/>
        </p:spPr>
        <p:txBody>
          <a:bodyPr vert="horz" wrap="square" lIns="25400" tIns="0" rIns="25400" bIns="12700" rtlCol="0" anchor="t">
            <a:spAutoFit/>
          </a:bodyPr>
          <a:lstStyle/>
          <a:p>
            <a:r>
              <a:rPr kumimoji="1" lang="en-US" altLang="ja-JP" sz="850" b="1" smtClean="0">
                <a:solidFill>
                  <a:srgbClr val="425650"/>
                </a:solidFill>
                <a:latin typeface="Aptos"/>
              </a:rPr>
              <a:t>src/Requirement_1.c  |  lines 147-150</a:t>
            </a:r>
            <a:endParaRPr kumimoji="1" lang="ja-JP" altLang="en-US" sz="850" b="1">
              <a:solidFill>
                <a:srgbClr val="425650"/>
              </a:solidFill>
              <a:latin typeface="Aptos"/>
            </a:endParaRPr>
          </a:p>
        </p:txBody>
      </p:sp>
      <p:sp>
        <p:nvSpPr>
          <p:cNvPr id="35" name="角丸四角形 34"/>
          <p:cNvSpPr/>
          <p:nvPr/>
        </p:nvSpPr>
        <p:spPr>
          <a:xfrm>
            <a:off x="4546600" y="4102100"/>
            <a:ext cx="7188200" cy="723900"/>
          </a:xfrm>
          <a:prstGeom prst="roundRect">
            <a:avLst/>
          </a:prstGeom>
          <a:solidFill>
            <a:srgbClr val="19363A"/>
          </a:solidFill>
          <a:ln w="12700">
            <a:solidFill>
              <a:srgbClr val="1936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4699000" y="4077901"/>
            <a:ext cx="6883400" cy="543226"/>
          </a:xfrm>
          <a:prstGeom prst="rect">
            <a:avLst/>
          </a:prstGeom>
          <a:noFill/>
        </p:spPr>
        <p:txBody>
          <a:bodyPr vert="horz" wrap="square" lIns="25400" tIns="25400" rIns="25400" bIns="12700" rtlCol="0" anchor="t">
            <a:spAutoFit/>
          </a:bodyPr>
          <a:lstStyle/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if ((led2State != 0U) &amp;&amp; (motorDuty &gt; 0U)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    &amp;&amp; (toggleIsOn == 0U) &amp;&amp; (distanceSensor &lt;= 10U)) {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    PORT9.PODR.BIT.B5 = 1U;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    led1BlinkTicks = 0U;</a:t>
            </a:r>
            <a:endParaRPr kumimoji="1" lang="ja-JP" altLang="en-US" sz="820">
              <a:solidFill>
                <a:srgbClr val="F5F7F4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ひし形 36"/>
          <p:cNvSpPr/>
          <p:nvPr/>
        </p:nvSpPr>
        <p:spPr>
          <a:xfrm>
            <a:off x="482600" y="5067300"/>
            <a:ext cx="3683000" cy="863600"/>
          </a:xfrm>
          <a:prstGeom prst="diamond">
            <a:avLst/>
          </a:prstGeom>
          <a:solidFill>
            <a:srgbClr val="FFF4D8"/>
          </a:solidFill>
          <a:ln w="15875">
            <a:solidFill>
              <a:srgbClr val="C183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kumimoji="1" lang="en-US" altLang="ja-JP" sz="1200" b="1" smtClean="0">
                <a:solidFill>
                  <a:srgbClr val="1D3035"/>
                </a:solidFill>
                <a:latin typeface="Aptos"/>
              </a:rPr>
              <a:t>08  Classify distance range</a:t>
            </a:r>
            <a:endParaRPr kumimoji="1" lang="ja-JP" altLang="en-US" sz="1200" b="1">
              <a:solidFill>
                <a:srgbClr val="1D3035"/>
              </a:solidFill>
              <a:latin typeface="Aptos"/>
            </a:endParaRPr>
          </a:p>
        </p:txBody>
      </p:sp>
      <p:cxnSp>
        <p:nvCxnSpPr>
          <p:cNvPr id="38" name="直線コネクタ 37"/>
          <p:cNvCxnSpPr/>
          <p:nvPr/>
        </p:nvCxnSpPr>
        <p:spPr>
          <a:xfrm>
            <a:off x="4241800" y="5499100"/>
            <a:ext cx="241300" cy="0"/>
          </a:xfrm>
          <a:prstGeom prst="line">
            <a:avLst/>
          </a:prstGeom>
          <a:ln w="15240">
            <a:solidFill>
              <a:srgbClr val="9BAA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/>
          <p:cNvSpPr txBox="1"/>
          <p:nvPr/>
        </p:nvSpPr>
        <p:spPr>
          <a:xfrm>
            <a:off x="4622800" y="5051497"/>
            <a:ext cx="6858000" cy="143629"/>
          </a:xfrm>
          <a:prstGeom prst="rect">
            <a:avLst/>
          </a:prstGeom>
          <a:noFill/>
        </p:spPr>
        <p:txBody>
          <a:bodyPr vert="horz" wrap="square" lIns="25400" tIns="0" rIns="25400" bIns="12700" rtlCol="0" anchor="t">
            <a:spAutoFit/>
          </a:bodyPr>
          <a:lstStyle/>
          <a:p>
            <a:r>
              <a:rPr kumimoji="1" lang="en-US" altLang="ja-JP" sz="850" b="1" smtClean="0">
                <a:solidFill>
                  <a:srgbClr val="425650"/>
                </a:solidFill>
                <a:latin typeface="Aptos"/>
              </a:rPr>
              <a:t>src/Requirement_1.c  |  lines 152-170</a:t>
            </a:r>
            <a:endParaRPr kumimoji="1" lang="ja-JP" altLang="en-US" sz="850" b="1">
              <a:solidFill>
                <a:srgbClr val="425650"/>
              </a:solidFill>
              <a:latin typeface="Aptos"/>
            </a:endParaRPr>
          </a:p>
        </p:txBody>
      </p:sp>
      <p:sp>
        <p:nvSpPr>
          <p:cNvPr id="40" name="角丸四角形 39"/>
          <p:cNvSpPr/>
          <p:nvPr/>
        </p:nvSpPr>
        <p:spPr>
          <a:xfrm>
            <a:off x="4546600" y="5283200"/>
            <a:ext cx="7188200" cy="723900"/>
          </a:xfrm>
          <a:prstGeom prst="roundRect">
            <a:avLst/>
          </a:prstGeom>
          <a:solidFill>
            <a:srgbClr val="19363A"/>
          </a:solidFill>
          <a:ln w="12700">
            <a:solidFill>
              <a:srgbClr val="1936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4699000" y="5259001"/>
            <a:ext cx="6883400" cy="543226"/>
          </a:xfrm>
          <a:prstGeom prst="rect">
            <a:avLst/>
          </a:prstGeom>
          <a:noFill/>
        </p:spPr>
        <p:txBody>
          <a:bodyPr vert="horz" wrap="square" lIns="25400" tIns="25400" rIns="25400" bIns="12700" rtlCol="0" anchor="t">
            <a:spAutoFit/>
          </a:bodyPr>
          <a:lstStyle/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101-255: objectDetectionStatus = 1U;  LED1 blinks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11-100:  objectDetectionStatus = 2U;  LED1 ON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1-10:    objectDetectionStatus = 3U;  LED1 ON</a:t>
            </a:r>
          </a:p>
          <a:p>
            <a:r>
              <a:rPr kumimoji="1" lang="en-US" altLang="ja-JP" sz="820" smtClean="0">
                <a:solidFill>
                  <a:srgbClr val="F5F7F4"/>
                </a:solidFill>
                <a:latin typeface="Consolas" panose="020B0609020204030204" pitchFamily="49" charset="0"/>
              </a:rPr>
              <a:t>other:   objectDetectionStatus = 0U;  LED1 OFF</a:t>
            </a:r>
            <a:endParaRPr kumimoji="1" lang="ja-JP" altLang="en-US" sz="820">
              <a:solidFill>
                <a:srgbClr val="F5F7F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469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0" y="0"/>
            <a:ext cx="12192000" cy="1041400"/>
          </a:xfrm>
          <a:prstGeom prst="rect">
            <a:avLst/>
          </a:prstGeom>
          <a:solidFill>
            <a:srgbClr val="132E3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/>
          <p:cNvSpPr/>
          <p:nvPr/>
        </p:nvSpPr>
        <p:spPr>
          <a:xfrm>
            <a:off x="0" y="1003300"/>
            <a:ext cx="12192000" cy="38100"/>
          </a:xfrm>
          <a:prstGeom prst="rect">
            <a:avLst/>
          </a:prstGeom>
          <a:solidFill>
            <a:srgbClr val="D29B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82600" y="80834"/>
            <a:ext cx="11176000" cy="3949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kumimoji="1" lang="en-US" altLang="ja-JP" sz="2400" b="1" smtClean="0">
                <a:solidFill>
                  <a:srgbClr val="FFFFFF"/>
                </a:solidFill>
                <a:latin typeface="Aptos"/>
              </a:rPr>
              <a:t>03  CarStatus and CANalyzer Output</a:t>
            </a:r>
            <a:endParaRPr kumimoji="1" lang="ja-JP" altLang="en-US" sz="2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508000" y="6508150"/>
            <a:ext cx="11176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>
            <a:spAutoFit/>
          </a:bodyPr>
          <a:lstStyle/>
          <a:p>
            <a:r>
              <a:rPr kumimoji="1" lang="en-US" altLang="ja-JP" sz="900" smtClean="0">
                <a:solidFill>
                  <a:srgbClr val="63736F"/>
                </a:solidFill>
                <a:latin typeface="Aptos"/>
              </a:rPr>
              <a:t>CAN ID 0x102 | DLC 8 | Byte 0: CarStatus | Byte 1: ObjectDetectionStatus</a:t>
            </a:r>
            <a:endParaRPr kumimoji="1" lang="ja-JP" altLang="en-US" sz="900">
              <a:solidFill>
                <a:srgbClr val="63736F"/>
              </a:solidFill>
              <a:latin typeface="Aptos"/>
            </a:endParaRPr>
          </a:p>
        </p:txBody>
      </p:sp>
      <p:sp>
        <p:nvSpPr>
          <p:cNvPr id="17" name="ひし形 16"/>
          <p:cNvSpPr/>
          <p:nvPr/>
        </p:nvSpPr>
        <p:spPr>
          <a:xfrm>
            <a:off x="482600" y="1854200"/>
            <a:ext cx="3683000" cy="1473200"/>
          </a:xfrm>
          <a:prstGeom prst="diamond">
            <a:avLst/>
          </a:prstGeom>
          <a:solidFill>
            <a:srgbClr val="FFF4D8"/>
          </a:solidFill>
          <a:ln w="15875">
            <a:solidFill>
              <a:srgbClr val="C183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kumimoji="1" lang="en-US" altLang="ja-JP" sz="1200" b="1" smtClean="0">
                <a:solidFill>
                  <a:srgbClr val="1D3035"/>
                </a:solidFill>
                <a:latin typeface="Aptos"/>
              </a:rPr>
              <a:t>09  Select CarStatus</a:t>
            </a:r>
          </a:p>
          <a:p>
            <a:pPr algn="ctr"/>
            <a:r>
              <a:rPr kumimoji="1" lang="en-US" altLang="ja-JP" sz="1200" b="1" smtClean="0">
                <a:solidFill>
                  <a:srgbClr val="1D3035"/>
                </a:solidFill>
                <a:latin typeface="Aptos"/>
              </a:rPr>
              <a:t>Fault first, then close range</a:t>
            </a:r>
            <a:endParaRPr kumimoji="1" lang="ja-JP" altLang="en-US" sz="1200" b="1">
              <a:solidFill>
                <a:srgbClr val="1D3035"/>
              </a:solidFill>
              <a:latin typeface="Aptos"/>
            </a:endParaRPr>
          </a:p>
        </p:txBody>
      </p:sp>
      <p:cxnSp>
        <p:nvCxnSpPr>
          <p:cNvPr id="18" name="直線コネクタ 17"/>
          <p:cNvCxnSpPr/>
          <p:nvPr/>
        </p:nvCxnSpPr>
        <p:spPr>
          <a:xfrm>
            <a:off x="4241800" y="2590800"/>
            <a:ext cx="241300" cy="0"/>
          </a:xfrm>
          <a:prstGeom prst="line">
            <a:avLst/>
          </a:prstGeom>
          <a:ln w="15240">
            <a:solidFill>
              <a:srgbClr val="9BAA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/>
          <p:cNvSpPr txBox="1"/>
          <p:nvPr/>
        </p:nvSpPr>
        <p:spPr>
          <a:xfrm>
            <a:off x="4622800" y="1838397"/>
            <a:ext cx="6858000" cy="143629"/>
          </a:xfrm>
          <a:prstGeom prst="rect">
            <a:avLst/>
          </a:prstGeom>
          <a:noFill/>
        </p:spPr>
        <p:txBody>
          <a:bodyPr vert="horz" wrap="square" lIns="25400" tIns="0" rIns="25400" bIns="12700" rtlCol="0" anchor="t">
            <a:spAutoFit/>
          </a:bodyPr>
          <a:lstStyle/>
          <a:p>
            <a:r>
              <a:rPr kumimoji="1" lang="en-US" altLang="ja-JP" sz="850" b="1" smtClean="0">
                <a:solidFill>
                  <a:srgbClr val="425650"/>
                </a:solidFill>
                <a:latin typeface="Aptos"/>
              </a:rPr>
              <a:t>src/Requirement_1.c  |  lines 174-181</a:t>
            </a:r>
            <a:endParaRPr kumimoji="1" lang="ja-JP" altLang="en-US" sz="850" b="1">
              <a:solidFill>
                <a:srgbClr val="425650"/>
              </a:solidFill>
              <a:latin typeface="Aptos"/>
            </a:endParaRPr>
          </a:p>
        </p:txBody>
      </p:sp>
      <p:sp>
        <p:nvSpPr>
          <p:cNvPr id="20" name="角丸四角形 19"/>
          <p:cNvSpPr/>
          <p:nvPr/>
        </p:nvSpPr>
        <p:spPr>
          <a:xfrm>
            <a:off x="4546600" y="2070100"/>
            <a:ext cx="7188200" cy="1333500"/>
          </a:xfrm>
          <a:prstGeom prst="roundRect">
            <a:avLst/>
          </a:prstGeom>
          <a:solidFill>
            <a:srgbClr val="19363A"/>
          </a:solidFill>
          <a:ln w="12700">
            <a:solidFill>
              <a:srgbClr val="1936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4699000" y="1970901"/>
            <a:ext cx="6883400" cy="809965"/>
          </a:xfrm>
          <a:prstGeom prst="rect">
            <a:avLst/>
          </a:prstGeom>
          <a:noFill/>
        </p:spPr>
        <p:txBody>
          <a:bodyPr vert="horz" wrap="square" lIns="25400" tIns="76200" rIns="25400" bIns="12700" rtlCol="0" anchor="t">
            <a:spAutoFit/>
          </a:bodyPr>
          <a:lstStyle/>
          <a:p>
            <a:r>
              <a:rPr kumimoji="1" lang="en-US" altLang="ja-JP" sz="780" smtClean="0">
                <a:solidFill>
                  <a:srgbClr val="F5F7F4"/>
                </a:solidFill>
                <a:latin typeface="Consolas" panose="020B0609020204030204" pitchFamily="49" charset="0"/>
              </a:rPr>
              <a:t>if (faultActive != 0U) {</a:t>
            </a:r>
          </a:p>
          <a:p>
            <a:r>
              <a:rPr kumimoji="1" lang="en-US" altLang="ja-JP" sz="780" smtClean="0">
                <a:solidFill>
                  <a:srgbClr val="F5F7F4"/>
                </a:solidFill>
                <a:latin typeface="Consolas" panose="020B0609020204030204" pitchFamily="49" charset="0"/>
              </a:rPr>
              <a:t>    carStatus = 2U;</a:t>
            </a:r>
          </a:p>
          <a:p>
            <a:r>
              <a:rPr kumimoji="1" lang="en-US" altLang="ja-JP" sz="780" smtClean="0">
                <a:solidFill>
                  <a:srgbClr val="F5F7F4"/>
                </a:solidFill>
                <a:latin typeface="Consolas" panose="020B0609020204030204" pitchFamily="49" charset="0"/>
              </a:rPr>
              <a:t>} else if ((detectionEnabled != 0U)</a:t>
            </a:r>
          </a:p>
          <a:p>
            <a:r>
              <a:rPr kumimoji="1" lang="en-US" altLang="ja-JP" sz="780" smtClean="0">
                <a:solidFill>
                  <a:srgbClr val="F5F7F4"/>
                </a:solidFill>
                <a:latin typeface="Consolas" panose="020B0609020204030204" pitchFamily="49" charset="0"/>
              </a:rPr>
              <a:t>    &amp;&amp; (distanceSensor &gt;= 1U) &amp;&amp; (distanceSensor &lt;= 10U)) {</a:t>
            </a:r>
          </a:p>
          <a:p>
            <a:r>
              <a:rPr kumimoji="1" lang="en-US" altLang="ja-JP" sz="780" smtClean="0">
                <a:solidFill>
                  <a:srgbClr val="F5F7F4"/>
                </a:solidFill>
                <a:latin typeface="Consolas" panose="020B0609020204030204" pitchFamily="49" charset="0"/>
              </a:rPr>
              <a:t>    carStatus = 3U;</a:t>
            </a:r>
          </a:p>
          <a:p>
            <a:r>
              <a:rPr kumimoji="1" lang="en-US" altLang="ja-JP" sz="780" smtClean="0">
                <a:solidFill>
                  <a:srgbClr val="F5F7F4"/>
                </a:solidFill>
                <a:latin typeface="Consolas" panose="020B0609020204030204" pitchFamily="49" charset="0"/>
              </a:rPr>
              <a:t>} else { carStatus = (led2State != 0U) ? 1U : 0U; }</a:t>
            </a:r>
            <a:endParaRPr kumimoji="1" lang="ja-JP" altLang="en-US" sz="780">
              <a:solidFill>
                <a:srgbClr val="F5F7F4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角丸四角形 21"/>
          <p:cNvSpPr/>
          <p:nvPr/>
        </p:nvSpPr>
        <p:spPr>
          <a:xfrm>
            <a:off x="482600" y="3911600"/>
            <a:ext cx="3683000" cy="1473200"/>
          </a:xfrm>
          <a:prstGeom prst="roundRect">
            <a:avLst/>
          </a:prstGeom>
          <a:solidFill>
            <a:srgbClr val="E5F2EF"/>
          </a:solidFill>
          <a:ln w="15875">
            <a:solidFill>
              <a:srgbClr val="2879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50800" rIns="88900" bIns="50800" rtlCol="0" anchor="ctr"/>
          <a:lstStyle/>
          <a:p>
            <a:pPr algn="ctr"/>
            <a:r>
              <a:rPr kumimoji="1" lang="en-US" altLang="ja-JP" sz="1200" b="1" smtClean="0">
                <a:solidFill>
                  <a:srgbClr val="1D3035"/>
                </a:solidFill>
                <a:latin typeface="Aptos"/>
              </a:rPr>
              <a:t>10  Build + send CANalyzer</a:t>
            </a:r>
          </a:p>
          <a:p>
            <a:pPr algn="ctr"/>
            <a:r>
              <a:rPr kumimoji="1" lang="en-US" altLang="ja-JP" sz="1200" b="1" smtClean="0">
                <a:solidFill>
                  <a:srgbClr val="1D3035"/>
                </a:solidFill>
                <a:latin typeface="Aptos"/>
              </a:rPr>
              <a:t>status frame</a:t>
            </a:r>
            <a:endParaRPr kumimoji="1" lang="ja-JP" altLang="en-US" sz="1200" b="1">
              <a:solidFill>
                <a:srgbClr val="1D3035"/>
              </a:solidFill>
              <a:latin typeface="Aptos"/>
            </a:endParaRPr>
          </a:p>
        </p:txBody>
      </p:sp>
      <p:cxnSp>
        <p:nvCxnSpPr>
          <p:cNvPr id="23" name="直線コネクタ 22"/>
          <p:cNvCxnSpPr/>
          <p:nvPr/>
        </p:nvCxnSpPr>
        <p:spPr>
          <a:xfrm>
            <a:off x="4241800" y="4648200"/>
            <a:ext cx="241300" cy="0"/>
          </a:xfrm>
          <a:prstGeom prst="line">
            <a:avLst/>
          </a:prstGeom>
          <a:ln w="15240">
            <a:solidFill>
              <a:srgbClr val="9BAA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/>
          <p:cNvSpPr txBox="1"/>
          <p:nvPr/>
        </p:nvSpPr>
        <p:spPr>
          <a:xfrm>
            <a:off x="4622800" y="3895797"/>
            <a:ext cx="6858000" cy="143629"/>
          </a:xfrm>
          <a:prstGeom prst="rect">
            <a:avLst/>
          </a:prstGeom>
          <a:noFill/>
        </p:spPr>
        <p:txBody>
          <a:bodyPr vert="horz" wrap="square" lIns="25400" tIns="0" rIns="25400" bIns="12700" rtlCol="0" anchor="t">
            <a:spAutoFit/>
          </a:bodyPr>
          <a:lstStyle/>
          <a:p>
            <a:r>
              <a:rPr kumimoji="1" lang="en-US" altLang="ja-JP" sz="850" b="1" smtClean="0">
                <a:solidFill>
                  <a:srgbClr val="425650"/>
                </a:solidFill>
                <a:latin typeface="Aptos"/>
              </a:rPr>
              <a:t>src/Requirement_1.c  |  lines 184-195</a:t>
            </a:r>
            <a:endParaRPr kumimoji="1" lang="ja-JP" altLang="en-US" sz="850" b="1">
              <a:solidFill>
                <a:srgbClr val="425650"/>
              </a:solidFill>
              <a:latin typeface="Aptos"/>
            </a:endParaRPr>
          </a:p>
        </p:txBody>
      </p:sp>
      <p:sp>
        <p:nvSpPr>
          <p:cNvPr id="25" name="角丸四角形 24"/>
          <p:cNvSpPr/>
          <p:nvPr/>
        </p:nvSpPr>
        <p:spPr>
          <a:xfrm>
            <a:off x="4546600" y="4127500"/>
            <a:ext cx="7188200" cy="1333500"/>
          </a:xfrm>
          <a:prstGeom prst="roundRect">
            <a:avLst/>
          </a:prstGeom>
          <a:solidFill>
            <a:srgbClr val="19363A"/>
          </a:solidFill>
          <a:ln w="12700">
            <a:solidFill>
              <a:srgbClr val="1936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4699000" y="4097551"/>
            <a:ext cx="6883400" cy="689932"/>
          </a:xfrm>
          <a:prstGeom prst="rect">
            <a:avLst/>
          </a:prstGeom>
          <a:noFill/>
        </p:spPr>
        <p:txBody>
          <a:bodyPr vert="horz" wrap="square" lIns="25400" tIns="76200" rIns="25400" bIns="12700" rtlCol="0" anchor="t">
            <a:spAutoFit/>
          </a:bodyPr>
          <a:lstStyle/>
          <a:p>
            <a:r>
              <a:rPr kumimoji="1" lang="en-US" altLang="ja-JP" sz="780" smtClean="0">
                <a:solidFill>
                  <a:srgbClr val="F5F7F4"/>
                </a:solidFill>
                <a:latin typeface="Consolas" panose="020B0609020204030204" pitchFamily="49" charset="0"/>
              </a:rPr>
              <a:t>txFrame.id = 0x102U;</a:t>
            </a:r>
          </a:p>
          <a:p>
            <a:r>
              <a:rPr kumimoji="1" lang="en-US" altLang="ja-JP" sz="780" smtClean="0">
                <a:solidFill>
                  <a:srgbClr val="F5F7F4"/>
                </a:solidFill>
                <a:latin typeface="Consolas" panose="020B0609020204030204" pitchFamily="49" charset="0"/>
              </a:rPr>
              <a:t>txFrame.dlc = 8U;</a:t>
            </a:r>
          </a:p>
          <a:p>
            <a:r>
              <a:rPr kumimoji="1" lang="en-US" altLang="ja-JP" sz="780" smtClean="0">
                <a:solidFill>
                  <a:srgbClr val="F5F7F4"/>
                </a:solidFill>
                <a:latin typeface="Consolas" panose="020B0609020204030204" pitchFamily="49" charset="0"/>
              </a:rPr>
              <a:t>txFrame.data[0] = carStatus;</a:t>
            </a:r>
          </a:p>
          <a:p>
            <a:r>
              <a:rPr kumimoji="1" lang="en-US" altLang="ja-JP" sz="780" smtClean="0">
                <a:solidFill>
                  <a:srgbClr val="F5F7F4"/>
                </a:solidFill>
                <a:latin typeface="Consolas" panose="020B0609020204030204" pitchFamily="49" charset="0"/>
              </a:rPr>
              <a:t>txFrame.data[1] = objectDetectionStatus;</a:t>
            </a:r>
          </a:p>
          <a:p>
            <a:r>
              <a:rPr kumimoji="1" lang="en-US" altLang="ja-JP" sz="780" smtClean="0">
                <a:solidFill>
                  <a:srgbClr val="F5F7F4"/>
                </a:solidFill>
                <a:latin typeface="Consolas" panose="020B0609020204030204" pitchFamily="49" charset="0"/>
              </a:rPr>
              <a:t>(void)R_CAN_TxSet(1U, NORMAL_MAILBOX_MODE, CAN_TX_MAILBOX, &amp;txFrame, DATA_FRAME);</a:t>
            </a:r>
            <a:endParaRPr kumimoji="1" lang="ja-JP" altLang="en-US" sz="780">
              <a:solidFill>
                <a:srgbClr val="F5F7F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343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683</Words>
  <Application>Microsoft Office PowerPoint</Application>
  <PresentationFormat>ワイド画面</PresentationFormat>
  <Paragraphs>116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Aptos</vt:lpstr>
      <vt:lpstr>游ゴシック</vt:lpstr>
      <vt:lpstr>游ゴシック Light</vt:lpstr>
      <vt:lpstr>Arial</vt:lpstr>
      <vt:lpstr>Consolas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STC-Guest</dc:creator>
  <cp:lastModifiedBy>STC-Guest</cp:lastModifiedBy>
  <cp:revision>9</cp:revision>
  <dcterms:created xsi:type="dcterms:W3CDTF">2026-10-19T02:12:12Z</dcterms:created>
  <dcterms:modified xsi:type="dcterms:W3CDTF">2026-10-19T08:12:28Z</dcterms:modified>
</cp:coreProperties>
</file>